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1"/>
    <p:sldId id="265" r:id="rId12"/>
    <p:sldId id="266" r:id="rId13"/>
    <p:sldId id="267" r:id="rId14"/>
    <p:sldId id="276" r:id="rId28"/>
    <p:sldId id="277" r:id="rId29"/>
    <p:sldId id="268" r:id="rId15"/>
    <p:sldId id="269" r:id="rId16"/>
    <p:sldId id="270" r:id="rId17"/>
    <p:sldId id="271" r:id="rId18"/>
    <p:sldId id="274" r:id="rId26"/>
    <p:sldId id="275" r:id="rId27"/>
    <p:sldId id="278" r:id="rId30"/>
    <p:sldId id="279" r:id="rId31"/>
    <p:sldId id="263" r:id="rId10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22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23.xml"/><Relationship Id="rId20" Type="http://schemas.openxmlformats.org/officeDocument/2006/relationships/slide" Target="slides/slide2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PharmacyBot智能药房系统的商业计划汇报。在接下来的时间里，我将向各位详细介绍我们如何通过创新的AI技术与机器人自动化，解决当前医药零售行业面临的核心痛点，并探索一个全新的市场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深入剖析当前医药零售市场的两大核心痛点。接着，我们会介绍我们的创新解决方案——PharmacyBot系统。然后，详细展示产品的技术细节和性能数据。之后，我们会阐述我们的商业模式与市场策略。最后，展望项目的未来发展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针对以上痛点，我们提出了PharmacyBot智能药房系统。这是一个将AI技术与机器人自动化深度融合的一体化解决方案，旨在打通从“症状咨询”到“药品交付”的全链路服务闭环。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由两大核心模块构成。首先是“AI药师智能体”，它作为系统的大脑，能够通过自然语言交互为用户提供专业的用药咨询。其次是“视觉分拣机器人”，作为物理执行者，它能精准地完成药品的抓取和分拣。这两者的结合，构成了一个从线上咨询到线下交付的完整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具备四大独特优势。首先是全流程闭环服务，这是我们区别于单一软硬件产品的核心。其次，三重校验机制保证了识别的精准可靠。第三，轻量化设计使其易于部署，特别适合基层市场。最后，我们高度重视合规性，确保整个系统在安全、低风险的框架内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也清醒地认识到项目面临的挑战。主要包括三个方面：一是政策风险，我们必须严格遵守相关法律法规；二是市场风险，需要耐心教育市场，建立信任；三是技术风险，必须确保系统的绝对稳定和可靠，实现“零差错”发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接下来，我将为大家详细介绍PharmacyBot的产品架构、核心技术以及关键的性能数据，展示我们解决方案的技术实力。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我们的产品采用“硬件终端 + 软件平台 + 技术服务”三层一体化架构。硬件层是我们的物理基础，软件层是智能核心，而服务层则为客户提供全方位的保障，确保系统稳定高效运行。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了解了产品之后，我们来看看如何将它推向市场。我们的商业模式是构建一个连接药企、药房和消费者的B2B2C价值生态。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竞争格局中，我们选择了差异化的竞争策略。我们不与面向大型医院的高端设备商直接竞争，而是精准定位被他们忽视的基层市场。通过软硬件一体化和轻量化设计，我们提供了极具性价比的解决方案，填补了市场空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B2B2C，通过多元化的盈利方式实现价值。这包括硬件销售与租赁、SaaS云服务订阅、订单技术服务费以及未来的数据增值服务。这种模式不仅降低了客户的进入门槛，也为我们带来了稳定且持续增长的收入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我们的市场策略非常清晰。首先，精准锁定三类核心目标用户。其次，通过直营、代理和平台合作的立体化渠道，快速实现市场覆盖。最后，通过积极的品牌建设，树立行业领导者的形象。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制定了清晰的三步走战略。短期内，我们将聚焦市场验证和标杆打造。中期，我们将进行规模化扩张，快速占领市场。长期来看，我们的目标是成为基层智慧药房领域的绝对领导者，并不断探索新的增长曲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PharmacyBot不仅仅是一个产品，更是对未来医药零售服务模式的一次探索。我们坚信，技术能够让医疗服务更安全、更高效、更可及。期待能与各位携手，共同开创智慧药房的新未来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image" Target="../media/image6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22000">
              <a:srgbClr val="987C3D">
                <a:alpha val="100000"/>
              </a:srgbClr>
            </a:gs>
            <a:gs pos="99000">
              <a:srgbClr val="BEA15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-1270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273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70700" y="4165600"/>
            <a:ext cx="546100" cy="546100"/>
          </a:xfrm>
          <a:prstGeom prst="ellipse">
            <a:avLst/>
          </a:prstGeom>
          <a:gradFill rotWithShape="0">
            <a:gsLst>
              <a:gs pos="0">
                <a:srgbClr val="9B4300">
                  <a:alpha val="100000"/>
                </a:srgbClr>
              </a:gs>
              <a:gs pos="98000">
                <a:srgbClr val="9B4300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791200" y="1346200"/>
            <a:ext cx="57277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</a:t>
            </a:r>
            <a:br>
              <a:rPr lang="en-US" sz="5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6400" b="1" i="0" u="none" strike="noStrike">
                <a:solidFill>
                  <a:srgbClr val="FFD7B8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智能药房系统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26300" y="4165600"/>
            <a:ext cx="429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商业计划书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01200" y="5791200"/>
            <a:ext cx="1917700" cy="342900"/>
          </a:xfrm>
          <a:prstGeom prst="roundRect">
            <a:avLst>
              <a:gd name="adj" fmla="val 59259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83333"/>
              </a:lnSpc>
              <a:spcBef>
                <a:spcPts val="1000"/>
              </a:spcBef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2026年3月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26300" y="5791200"/>
            <a:ext cx="1917700" cy="342900"/>
          </a:xfrm>
          <a:prstGeom prst="roundRect">
            <a:avLst>
              <a:gd name="adj" fmla="val 59259"/>
            </a:avLst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83333"/>
              </a:lnSpc>
              <a:spcBef>
                <a:spcPts val="1000"/>
              </a:spcBef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项目汇报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64100" y="1155700"/>
            <a:ext cx="2451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BEA15E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49300" y="4749800"/>
            <a:ext cx="22733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49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专业药师短缺与人工分拣效率低下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49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77849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908300" y="4229100"/>
            <a:ext cx="18542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08300" y="4635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AI药师智能体与视觉分拣机器人的融合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08300" y="33020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BEA15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67300" y="4749800"/>
            <a:ext cx="22733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产品介绍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67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系统架构、核心技术与关键性能指标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67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77849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26300" y="4229100"/>
            <a:ext cx="16510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商业模式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26300" y="4635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盈利模式与市场布局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26300" y="33020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85300" y="4749800"/>
            <a:ext cx="18542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风险管理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85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政策、市场、财务、技术与用户风险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85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市场痛点分析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医药零售行业的结构性挑战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EBEE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273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专业药师严重短缺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273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全国约68万零售药店，近80万注册执业药师高度集中于一线城市，大量社区药店夜间无专业指导，基层“有店无药师”导致盲目用药风险突出，近30%消费者曾获得不当用药建议。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542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5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8992">
            <a:off x="2400318" y="4616450"/>
            <a:ext cx="2298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831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2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分拣库存依赖人工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传统药房仍用纯手工拣货盘点，高峰期差错率1%-3%，O2O即时送药爆发下"30分钟送达"要求进一步放大人工瓶颈，热销药断货与滞销药过期并存。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769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9098">
            <a:off x="6223018" y="46164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009900" y="1371600"/>
            <a:ext cx="6184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核心业务痛点深度剖析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72700" y="4203700"/>
            <a:ext cx="1778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智能化升级破局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72700" y="4787900"/>
            <a:ext cx="177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市场急需自动识别、精准抓取与实时库存同步的智能方案，以技术替代人力，重塑医药零售运营效率与服务体验。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996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4731">
            <a:off x="10045723" y="4616450"/>
            <a:ext cx="1765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746500" y="2082800"/>
            <a:ext cx="4699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传统医药零售模式下，服务能力与运营效率的双重短板日益凸显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两大核心痛点制约行业发展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我们的解决方案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 智能药房系统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962400"/>
            <a:ext cx="12192000" cy="2146300"/>
          </a:xfrm>
          <a:prstGeom prst="roundRect">
            <a:avLst>
              <a:gd name="adj" fmla="val 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11324" y="1587500"/>
            <a:ext cx="1845267" cy="3753895"/>
          </a:xfrm>
          <a:custGeom>
            <a:avLst/>
            <a:gdLst/>
            <a:ahLst/>
            <a:cxnLst/>
            <a:rect l="l" t="t" r="r" b="b"/>
            <a:pathLst>
              <a:path w="1845267" h="3753895">
                <a:moveTo>
                  <a:pt x="300966" y="0"/>
                </a:moveTo>
                <a:lnTo>
                  <a:pt x="1544432" y="0"/>
                </a:lnTo>
                <a:cubicBezTo>
                  <a:pt x="1622842" y="0"/>
                  <a:pt x="1666403" y="8448"/>
                  <a:pt x="1711944" y="32737"/>
                </a:cubicBezTo>
                <a:cubicBezTo>
                  <a:pt x="1755108" y="55838"/>
                  <a:pt x="1789561" y="90289"/>
                  <a:pt x="1812530" y="133323"/>
                </a:cubicBezTo>
                <a:cubicBezTo>
                  <a:pt x="1836818" y="178864"/>
                  <a:pt x="1845267" y="222425"/>
                  <a:pt x="1845267" y="300835"/>
                </a:cubicBezTo>
                <a:lnTo>
                  <a:pt x="1845267" y="3453060"/>
                </a:lnTo>
                <a:cubicBezTo>
                  <a:pt x="1845267" y="3531470"/>
                  <a:pt x="1836818" y="3575031"/>
                  <a:pt x="1812530" y="3620572"/>
                </a:cubicBezTo>
                <a:cubicBezTo>
                  <a:pt x="1789430" y="3663737"/>
                  <a:pt x="1754976" y="3698189"/>
                  <a:pt x="1711944" y="3721157"/>
                </a:cubicBezTo>
                <a:cubicBezTo>
                  <a:pt x="1666403" y="3745446"/>
                  <a:pt x="1622842" y="3753895"/>
                  <a:pt x="1544432" y="3753895"/>
                </a:cubicBezTo>
                <a:lnTo>
                  <a:pt x="300966" y="3753895"/>
                </a:lnTo>
                <a:cubicBezTo>
                  <a:pt x="222556" y="3753895"/>
                  <a:pt x="178995" y="3745446"/>
                  <a:pt x="133454" y="3721157"/>
                </a:cubicBezTo>
                <a:cubicBezTo>
                  <a:pt x="90291" y="3698057"/>
                  <a:pt x="55838" y="3663605"/>
                  <a:pt x="32869" y="3620572"/>
                </a:cubicBezTo>
                <a:cubicBezTo>
                  <a:pt x="8448" y="3575294"/>
                  <a:pt x="0" y="3531602"/>
                  <a:pt x="0" y="3453192"/>
                </a:cubicBezTo>
                <a:lnTo>
                  <a:pt x="0" y="300966"/>
                </a:lnTo>
                <a:cubicBezTo>
                  <a:pt x="0" y="222556"/>
                  <a:pt x="8448" y="178995"/>
                  <a:pt x="32737" y="133454"/>
                </a:cubicBezTo>
                <a:cubicBezTo>
                  <a:pt x="55838" y="90289"/>
                  <a:pt x="90291" y="55838"/>
                  <a:pt x="133323" y="32869"/>
                </a:cubicBezTo>
                <a:cubicBezTo>
                  <a:pt x="178864" y="8448"/>
                  <a:pt x="222556" y="0"/>
                  <a:pt x="300966" y="0"/>
                </a:cubicBezTo>
                <a:close/>
              </a:path>
            </a:pathLst>
          </a:custGeom>
          <a:gradFill rotWithShape="0">
            <a:gsLst>
              <a:gs pos="0">
                <a:srgbClr val="000000">
                  <a:alpha val="100000"/>
                </a:srgbClr>
              </a:gs>
              <a:gs pos="6000">
                <a:srgbClr val="404040">
                  <a:alpha val="100000"/>
                </a:srgbClr>
              </a:gs>
              <a:gs pos="11000">
                <a:srgbClr val="D9D9D9">
                  <a:alpha val="100000"/>
                </a:srgbClr>
              </a:gs>
              <a:gs pos="41000">
                <a:srgbClr val="000000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36724" y="1587500"/>
            <a:ext cx="1824147" cy="3732774"/>
          </a:xfrm>
          <a:custGeom>
            <a:avLst/>
            <a:gdLst/>
            <a:ahLst/>
            <a:cxnLst/>
            <a:rect l="l" t="t" r="r" b="b"/>
            <a:pathLst>
              <a:path w="1824147" h="3732774">
                <a:moveTo>
                  <a:pt x="290406" y="0"/>
                </a:moveTo>
                <a:lnTo>
                  <a:pt x="1533872" y="0"/>
                </a:lnTo>
                <a:cubicBezTo>
                  <a:pt x="1610566" y="0"/>
                  <a:pt x="1652543" y="8052"/>
                  <a:pt x="1696368" y="31548"/>
                </a:cubicBezTo>
                <a:cubicBezTo>
                  <a:pt x="1737685" y="53594"/>
                  <a:pt x="1770554" y="86594"/>
                  <a:pt x="1792598" y="127779"/>
                </a:cubicBezTo>
                <a:cubicBezTo>
                  <a:pt x="1816095" y="171604"/>
                  <a:pt x="1824147" y="213580"/>
                  <a:pt x="1824147" y="290274"/>
                </a:cubicBezTo>
                <a:lnTo>
                  <a:pt x="1824147" y="3442500"/>
                </a:lnTo>
                <a:cubicBezTo>
                  <a:pt x="1824147" y="3519194"/>
                  <a:pt x="1816095" y="3561170"/>
                  <a:pt x="1792598" y="3604995"/>
                </a:cubicBezTo>
                <a:cubicBezTo>
                  <a:pt x="1770554" y="3646312"/>
                  <a:pt x="1737552" y="3679181"/>
                  <a:pt x="1696368" y="3701226"/>
                </a:cubicBezTo>
                <a:cubicBezTo>
                  <a:pt x="1652543" y="3724722"/>
                  <a:pt x="1610566" y="3732774"/>
                  <a:pt x="1533872" y="3732774"/>
                </a:cubicBezTo>
                <a:lnTo>
                  <a:pt x="290406" y="3732774"/>
                </a:lnTo>
                <a:cubicBezTo>
                  <a:pt x="213713" y="3732774"/>
                  <a:pt x="171736" y="3724722"/>
                  <a:pt x="127911" y="3701226"/>
                </a:cubicBezTo>
                <a:cubicBezTo>
                  <a:pt x="86594" y="3679181"/>
                  <a:pt x="53725" y="3646180"/>
                  <a:pt x="31682" y="3604995"/>
                </a:cubicBezTo>
                <a:cubicBezTo>
                  <a:pt x="8053" y="3561434"/>
                  <a:pt x="0" y="3519326"/>
                  <a:pt x="0" y="3442632"/>
                </a:cubicBezTo>
                <a:lnTo>
                  <a:pt x="0" y="290406"/>
                </a:lnTo>
                <a:cubicBezTo>
                  <a:pt x="0" y="213713"/>
                  <a:pt x="8053" y="171736"/>
                  <a:pt x="31549" y="127911"/>
                </a:cubicBezTo>
                <a:cubicBezTo>
                  <a:pt x="53594" y="86594"/>
                  <a:pt x="86594" y="53725"/>
                  <a:pt x="127779" y="31681"/>
                </a:cubicBezTo>
                <a:cubicBezTo>
                  <a:pt x="171604" y="8052"/>
                  <a:pt x="213713" y="0"/>
                  <a:pt x="290406" y="0"/>
                </a:cubicBezTo>
                <a:close/>
              </a:path>
            </a:pathLst>
          </a:custGeom>
          <a:solidFill>
            <a:srgbClr val="C9C6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536724" y="1587500"/>
            <a:ext cx="1824147" cy="3732774"/>
          </a:xfrm>
          <a:custGeom>
            <a:avLst/>
            <a:gdLst/>
            <a:ahLst/>
            <a:cxnLst/>
            <a:rect l="l" t="t" r="r" b="b"/>
            <a:pathLst>
              <a:path w="1824147" h="3732774">
                <a:moveTo>
                  <a:pt x="290406" y="0"/>
                </a:moveTo>
                <a:lnTo>
                  <a:pt x="1533872" y="0"/>
                </a:lnTo>
                <a:cubicBezTo>
                  <a:pt x="1610566" y="0"/>
                  <a:pt x="1652543" y="8052"/>
                  <a:pt x="1696368" y="31548"/>
                </a:cubicBezTo>
                <a:cubicBezTo>
                  <a:pt x="1737685" y="53594"/>
                  <a:pt x="1770554" y="86594"/>
                  <a:pt x="1792598" y="127779"/>
                </a:cubicBezTo>
                <a:cubicBezTo>
                  <a:pt x="1816095" y="171604"/>
                  <a:pt x="1824147" y="213580"/>
                  <a:pt x="1824147" y="290274"/>
                </a:cubicBezTo>
                <a:lnTo>
                  <a:pt x="1824147" y="3442500"/>
                </a:lnTo>
                <a:cubicBezTo>
                  <a:pt x="1824147" y="3519194"/>
                  <a:pt x="1816095" y="3561170"/>
                  <a:pt x="1792598" y="3604995"/>
                </a:cubicBezTo>
                <a:cubicBezTo>
                  <a:pt x="1770554" y="3646312"/>
                  <a:pt x="1737552" y="3679181"/>
                  <a:pt x="1696368" y="3701226"/>
                </a:cubicBezTo>
                <a:cubicBezTo>
                  <a:pt x="1652543" y="3724722"/>
                  <a:pt x="1610566" y="3732774"/>
                  <a:pt x="1533872" y="3732774"/>
                </a:cubicBezTo>
                <a:lnTo>
                  <a:pt x="290406" y="3732774"/>
                </a:lnTo>
                <a:cubicBezTo>
                  <a:pt x="213713" y="3732774"/>
                  <a:pt x="171736" y="3724722"/>
                  <a:pt x="127911" y="3701226"/>
                </a:cubicBezTo>
                <a:cubicBezTo>
                  <a:pt x="86594" y="3679181"/>
                  <a:pt x="53725" y="3646180"/>
                  <a:pt x="31682" y="3604995"/>
                </a:cubicBezTo>
                <a:cubicBezTo>
                  <a:pt x="8053" y="3561434"/>
                  <a:pt x="0" y="3519326"/>
                  <a:pt x="0" y="3442632"/>
                </a:cubicBezTo>
                <a:lnTo>
                  <a:pt x="0" y="290406"/>
                </a:lnTo>
                <a:cubicBezTo>
                  <a:pt x="0" y="213713"/>
                  <a:pt x="8053" y="171736"/>
                  <a:pt x="31549" y="127911"/>
                </a:cubicBezTo>
                <a:cubicBezTo>
                  <a:pt x="53594" y="86594"/>
                  <a:pt x="86594" y="53725"/>
                  <a:pt x="127779" y="31681"/>
                </a:cubicBezTo>
                <a:cubicBezTo>
                  <a:pt x="171604" y="8052"/>
                  <a:pt x="213713" y="0"/>
                  <a:pt x="290406" y="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524024" y="1612900"/>
            <a:ext cx="1840118" cy="3693306"/>
          </a:xfrm>
          <a:custGeom>
            <a:avLst/>
            <a:gdLst/>
            <a:ahLst/>
            <a:cxnLst/>
            <a:rect l="l" t="t" r="r" b="b"/>
            <a:pathLst>
              <a:path w="1840118" h="3693306">
                <a:moveTo>
                  <a:pt x="292914" y="0"/>
                </a:moveTo>
                <a:lnTo>
                  <a:pt x="1547204" y="0"/>
                </a:lnTo>
                <a:cubicBezTo>
                  <a:pt x="1624557" y="0"/>
                  <a:pt x="1666930" y="8053"/>
                  <a:pt x="1711151" y="31153"/>
                </a:cubicBezTo>
                <a:cubicBezTo>
                  <a:pt x="1752732" y="52934"/>
                  <a:pt x="1785997" y="85538"/>
                  <a:pt x="1808305" y="126459"/>
                </a:cubicBezTo>
                <a:cubicBezTo>
                  <a:pt x="1831934" y="169756"/>
                  <a:pt x="1840118" y="211336"/>
                  <a:pt x="1840118" y="287238"/>
                </a:cubicBezTo>
                <a:lnTo>
                  <a:pt x="1840118" y="3406068"/>
                </a:lnTo>
                <a:cubicBezTo>
                  <a:pt x="1840118" y="3481969"/>
                  <a:pt x="1831934" y="3523550"/>
                  <a:pt x="1808305" y="3566847"/>
                </a:cubicBezTo>
                <a:cubicBezTo>
                  <a:pt x="1785997" y="3607636"/>
                  <a:pt x="1752864" y="3640240"/>
                  <a:pt x="1711151" y="3662153"/>
                </a:cubicBezTo>
                <a:cubicBezTo>
                  <a:pt x="1666930" y="3685385"/>
                  <a:pt x="1624557" y="3693306"/>
                  <a:pt x="1547204" y="3693306"/>
                </a:cubicBezTo>
                <a:lnTo>
                  <a:pt x="292914" y="3693306"/>
                </a:lnTo>
                <a:cubicBezTo>
                  <a:pt x="215561" y="3693306"/>
                  <a:pt x="173187" y="3685253"/>
                  <a:pt x="128966" y="3662153"/>
                </a:cubicBezTo>
                <a:cubicBezTo>
                  <a:pt x="87386" y="3640372"/>
                  <a:pt x="54121" y="3607768"/>
                  <a:pt x="31812" y="3566847"/>
                </a:cubicBezTo>
                <a:cubicBezTo>
                  <a:pt x="8184" y="3523550"/>
                  <a:pt x="0" y="3481969"/>
                  <a:pt x="0" y="3406068"/>
                </a:cubicBezTo>
                <a:lnTo>
                  <a:pt x="0" y="287371"/>
                </a:lnTo>
                <a:cubicBezTo>
                  <a:pt x="0" y="211469"/>
                  <a:pt x="8184" y="169888"/>
                  <a:pt x="31812" y="126591"/>
                </a:cubicBezTo>
                <a:cubicBezTo>
                  <a:pt x="54121" y="85801"/>
                  <a:pt x="87254" y="53196"/>
                  <a:pt x="128966" y="31284"/>
                </a:cubicBezTo>
                <a:cubicBezTo>
                  <a:pt x="173187" y="8053"/>
                  <a:pt x="215561" y="0"/>
                  <a:pt x="29291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524024" y="1612900"/>
            <a:ext cx="1840118" cy="3693306"/>
          </a:xfrm>
          <a:custGeom>
            <a:avLst/>
            <a:gdLst/>
            <a:ahLst/>
            <a:cxnLst/>
            <a:rect l="l" t="t" r="r" b="b"/>
            <a:pathLst>
              <a:path w="1840118" h="3693306">
                <a:moveTo>
                  <a:pt x="292914" y="0"/>
                </a:moveTo>
                <a:lnTo>
                  <a:pt x="1547204" y="0"/>
                </a:lnTo>
                <a:cubicBezTo>
                  <a:pt x="1624557" y="0"/>
                  <a:pt x="1666930" y="8053"/>
                  <a:pt x="1711151" y="31153"/>
                </a:cubicBezTo>
                <a:cubicBezTo>
                  <a:pt x="1752732" y="52934"/>
                  <a:pt x="1785997" y="85538"/>
                  <a:pt x="1808305" y="126459"/>
                </a:cubicBezTo>
                <a:cubicBezTo>
                  <a:pt x="1831934" y="169756"/>
                  <a:pt x="1840118" y="211336"/>
                  <a:pt x="1840118" y="287238"/>
                </a:cubicBezTo>
                <a:lnTo>
                  <a:pt x="1840118" y="3406068"/>
                </a:lnTo>
                <a:cubicBezTo>
                  <a:pt x="1840118" y="3481969"/>
                  <a:pt x="1831934" y="3523550"/>
                  <a:pt x="1808305" y="3566847"/>
                </a:cubicBezTo>
                <a:cubicBezTo>
                  <a:pt x="1785997" y="3607636"/>
                  <a:pt x="1752864" y="3640240"/>
                  <a:pt x="1711151" y="3662153"/>
                </a:cubicBezTo>
                <a:cubicBezTo>
                  <a:pt x="1666930" y="3685385"/>
                  <a:pt x="1624557" y="3693306"/>
                  <a:pt x="1547204" y="3693306"/>
                </a:cubicBezTo>
                <a:lnTo>
                  <a:pt x="292914" y="3693306"/>
                </a:lnTo>
                <a:cubicBezTo>
                  <a:pt x="215561" y="3693306"/>
                  <a:pt x="173187" y="3685253"/>
                  <a:pt x="128966" y="3662153"/>
                </a:cubicBezTo>
                <a:cubicBezTo>
                  <a:pt x="87386" y="3640372"/>
                  <a:pt x="54121" y="3607768"/>
                  <a:pt x="31812" y="3566847"/>
                </a:cubicBezTo>
                <a:cubicBezTo>
                  <a:pt x="8184" y="3523550"/>
                  <a:pt x="0" y="3481969"/>
                  <a:pt x="0" y="3406068"/>
                </a:cubicBezTo>
                <a:lnTo>
                  <a:pt x="0" y="287371"/>
                </a:lnTo>
                <a:cubicBezTo>
                  <a:pt x="0" y="211469"/>
                  <a:pt x="8184" y="169888"/>
                  <a:pt x="31812" y="126591"/>
                </a:cubicBezTo>
                <a:cubicBezTo>
                  <a:pt x="54121" y="85801"/>
                  <a:pt x="87254" y="53196"/>
                  <a:pt x="128966" y="31284"/>
                </a:cubicBezTo>
                <a:cubicBezTo>
                  <a:pt x="173187" y="8053"/>
                  <a:pt x="215561" y="0"/>
                  <a:pt x="29291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549424" y="1600200"/>
            <a:ext cx="1773986" cy="3711786"/>
          </a:xfrm>
          <a:custGeom>
            <a:avLst/>
            <a:gdLst/>
            <a:ahLst/>
            <a:cxnLst/>
            <a:rect l="l" t="t" r="r" b="b"/>
            <a:pathLst>
              <a:path w="1773986" h="3711786">
                <a:moveTo>
                  <a:pt x="282354" y="0"/>
                </a:moveTo>
                <a:lnTo>
                  <a:pt x="1491632" y="0"/>
                </a:lnTo>
                <a:cubicBezTo>
                  <a:pt x="1566212" y="0"/>
                  <a:pt x="1607134" y="8052"/>
                  <a:pt x="1649771" y="31417"/>
                </a:cubicBezTo>
                <a:cubicBezTo>
                  <a:pt x="1689899" y="53330"/>
                  <a:pt x="1721975" y="86065"/>
                  <a:pt x="1743361" y="127118"/>
                </a:cubicBezTo>
                <a:cubicBezTo>
                  <a:pt x="1766197" y="170679"/>
                  <a:pt x="1773986" y="212524"/>
                  <a:pt x="1773986" y="288690"/>
                </a:cubicBezTo>
                <a:lnTo>
                  <a:pt x="1773986" y="3423096"/>
                </a:lnTo>
                <a:cubicBezTo>
                  <a:pt x="1773986" y="3499394"/>
                  <a:pt x="1766065" y="3541105"/>
                  <a:pt x="1743361" y="3584666"/>
                </a:cubicBezTo>
                <a:cubicBezTo>
                  <a:pt x="1721845" y="3625720"/>
                  <a:pt x="1689899" y="3658456"/>
                  <a:pt x="1649771" y="3680369"/>
                </a:cubicBezTo>
                <a:cubicBezTo>
                  <a:pt x="1607134" y="3703733"/>
                  <a:pt x="1566344" y="3711786"/>
                  <a:pt x="1491632" y="3711786"/>
                </a:cubicBezTo>
                <a:lnTo>
                  <a:pt x="282354" y="3711786"/>
                </a:lnTo>
                <a:cubicBezTo>
                  <a:pt x="207773" y="3711786"/>
                  <a:pt x="166851" y="3703733"/>
                  <a:pt x="124215" y="3680369"/>
                </a:cubicBezTo>
                <a:cubicBezTo>
                  <a:pt x="84086" y="3658456"/>
                  <a:pt x="52009" y="3625720"/>
                  <a:pt x="30625" y="3584666"/>
                </a:cubicBezTo>
                <a:cubicBezTo>
                  <a:pt x="7920" y="3541238"/>
                  <a:pt x="0" y="3499394"/>
                  <a:pt x="0" y="3423228"/>
                </a:cubicBezTo>
                <a:lnTo>
                  <a:pt x="0" y="288690"/>
                </a:lnTo>
                <a:cubicBezTo>
                  <a:pt x="0" y="212392"/>
                  <a:pt x="7920" y="170679"/>
                  <a:pt x="30625" y="127118"/>
                </a:cubicBezTo>
                <a:cubicBezTo>
                  <a:pt x="52141" y="86065"/>
                  <a:pt x="84086" y="53330"/>
                  <a:pt x="124215" y="31417"/>
                </a:cubicBezTo>
                <a:cubicBezTo>
                  <a:pt x="166984" y="8052"/>
                  <a:pt x="207773" y="0"/>
                  <a:pt x="28235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549424" y="1600200"/>
            <a:ext cx="1773986" cy="3711786"/>
          </a:xfrm>
          <a:custGeom>
            <a:avLst/>
            <a:gdLst/>
            <a:ahLst/>
            <a:cxnLst/>
            <a:rect l="l" t="t" r="r" b="b"/>
            <a:pathLst>
              <a:path w="1773986" h="3711786">
                <a:moveTo>
                  <a:pt x="282354" y="0"/>
                </a:moveTo>
                <a:lnTo>
                  <a:pt x="1491632" y="0"/>
                </a:lnTo>
                <a:cubicBezTo>
                  <a:pt x="1566212" y="0"/>
                  <a:pt x="1607134" y="8052"/>
                  <a:pt x="1649771" y="31417"/>
                </a:cubicBezTo>
                <a:cubicBezTo>
                  <a:pt x="1689899" y="53330"/>
                  <a:pt x="1721975" y="86065"/>
                  <a:pt x="1743361" y="127118"/>
                </a:cubicBezTo>
                <a:cubicBezTo>
                  <a:pt x="1766197" y="170679"/>
                  <a:pt x="1773986" y="212524"/>
                  <a:pt x="1773986" y="288690"/>
                </a:cubicBezTo>
                <a:lnTo>
                  <a:pt x="1773986" y="3423096"/>
                </a:lnTo>
                <a:cubicBezTo>
                  <a:pt x="1773986" y="3499394"/>
                  <a:pt x="1766065" y="3541105"/>
                  <a:pt x="1743361" y="3584666"/>
                </a:cubicBezTo>
                <a:cubicBezTo>
                  <a:pt x="1721845" y="3625720"/>
                  <a:pt x="1689899" y="3658456"/>
                  <a:pt x="1649771" y="3680369"/>
                </a:cubicBezTo>
                <a:cubicBezTo>
                  <a:pt x="1607134" y="3703733"/>
                  <a:pt x="1566344" y="3711786"/>
                  <a:pt x="1491632" y="3711786"/>
                </a:cubicBezTo>
                <a:lnTo>
                  <a:pt x="282354" y="3711786"/>
                </a:lnTo>
                <a:cubicBezTo>
                  <a:pt x="207773" y="3711786"/>
                  <a:pt x="166851" y="3703733"/>
                  <a:pt x="124215" y="3680369"/>
                </a:cubicBezTo>
                <a:cubicBezTo>
                  <a:pt x="84086" y="3658456"/>
                  <a:pt x="52009" y="3625720"/>
                  <a:pt x="30625" y="3584666"/>
                </a:cubicBezTo>
                <a:cubicBezTo>
                  <a:pt x="7920" y="3541238"/>
                  <a:pt x="0" y="3499394"/>
                  <a:pt x="0" y="3423228"/>
                </a:cubicBezTo>
                <a:lnTo>
                  <a:pt x="0" y="288690"/>
                </a:lnTo>
                <a:cubicBezTo>
                  <a:pt x="0" y="212392"/>
                  <a:pt x="7920" y="170679"/>
                  <a:pt x="30625" y="127118"/>
                </a:cubicBezTo>
                <a:cubicBezTo>
                  <a:pt x="52141" y="86065"/>
                  <a:pt x="84086" y="53330"/>
                  <a:pt x="124215" y="31417"/>
                </a:cubicBezTo>
                <a:cubicBezTo>
                  <a:pt x="166984" y="8052"/>
                  <a:pt x="207773" y="0"/>
                  <a:pt x="28235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549424" y="1612900"/>
            <a:ext cx="1793918" cy="3694758"/>
          </a:xfrm>
          <a:custGeom>
            <a:avLst/>
            <a:gdLst/>
            <a:ahLst/>
            <a:cxnLst/>
            <a:rect l="l" t="t" r="r" b="b"/>
            <a:pathLst>
              <a:path w="1793918" h="3694758">
                <a:moveTo>
                  <a:pt x="1522651" y="0"/>
                </a:moveTo>
                <a:cubicBezTo>
                  <a:pt x="1596310" y="0"/>
                  <a:pt x="1635383" y="7525"/>
                  <a:pt x="1676172" y="29304"/>
                </a:cubicBezTo>
                <a:cubicBezTo>
                  <a:pt x="1714057" y="49633"/>
                  <a:pt x="1744284" y="79861"/>
                  <a:pt x="1764613" y="117747"/>
                </a:cubicBezTo>
                <a:cubicBezTo>
                  <a:pt x="1786394" y="158535"/>
                  <a:pt x="1793918" y="197608"/>
                  <a:pt x="1793918" y="271266"/>
                </a:cubicBezTo>
                <a:lnTo>
                  <a:pt x="1793918" y="271266"/>
                </a:lnTo>
                <a:lnTo>
                  <a:pt x="1793918" y="3423492"/>
                </a:lnTo>
                <a:cubicBezTo>
                  <a:pt x="1793918" y="3497149"/>
                  <a:pt x="1786394" y="3536222"/>
                  <a:pt x="1764613" y="3577012"/>
                </a:cubicBezTo>
                <a:cubicBezTo>
                  <a:pt x="1744284" y="3614896"/>
                  <a:pt x="1714057" y="3645125"/>
                  <a:pt x="1676172" y="3665454"/>
                </a:cubicBezTo>
                <a:cubicBezTo>
                  <a:pt x="1635383" y="3687234"/>
                  <a:pt x="1596310" y="3694758"/>
                  <a:pt x="1522651" y="3694758"/>
                </a:cubicBezTo>
                <a:lnTo>
                  <a:pt x="1522651" y="3694758"/>
                </a:lnTo>
                <a:lnTo>
                  <a:pt x="271266" y="3694758"/>
                </a:lnTo>
                <a:cubicBezTo>
                  <a:pt x="197608" y="3694758"/>
                  <a:pt x="158536" y="3687234"/>
                  <a:pt x="117747" y="3665454"/>
                </a:cubicBezTo>
                <a:cubicBezTo>
                  <a:pt x="79862" y="3645125"/>
                  <a:pt x="49633" y="3614896"/>
                  <a:pt x="29305" y="3577012"/>
                </a:cubicBezTo>
                <a:cubicBezTo>
                  <a:pt x="7525" y="3536222"/>
                  <a:pt x="0" y="3497149"/>
                  <a:pt x="0" y="3423492"/>
                </a:cubicBezTo>
                <a:lnTo>
                  <a:pt x="0" y="3423492"/>
                </a:lnTo>
                <a:lnTo>
                  <a:pt x="0" y="271266"/>
                </a:lnTo>
                <a:cubicBezTo>
                  <a:pt x="0" y="197608"/>
                  <a:pt x="7525" y="158535"/>
                  <a:pt x="29305" y="117747"/>
                </a:cubicBezTo>
                <a:cubicBezTo>
                  <a:pt x="49633" y="79861"/>
                  <a:pt x="79862" y="49633"/>
                  <a:pt x="117747" y="29304"/>
                </a:cubicBezTo>
                <a:cubicBezTo>
                  <a:pt x="158536" y="7525"/>
                  <a:pt x="197608" y="0"/>
                  <a:pt x="271266" y="0"/>
                </a:cubicBezTo>
                <a:lnTo>
                  <a:pt x="271266" y="0"/>
                </a:lnTo>
                <a:lnTo>
                  <a:pt x="1522651" y="0"/>
                </a:lnTo>
                <a:close/>
              </a:path>
            </a:pathLst>
          </a:custGeom>
          <a:solidFill>
            <a:srgbClr val="5F5F5F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562124" y="1625600"/>
            <a:ext cx="1758277" cy="3659116"/>
          </a:xfrm>
          <a:custGeom>
            <a:avLst/>
            <a:gdLst/>
            <a:ahLst/>
            <a:cxnLst/>
            <a:rect l="l" t="t" r="r" b="b"/>
            <a:pathLst>
              <a:path w="1758277" h="3659116">
                <a:moveTo>
                  <a:pt x="254634" y="0"/>
                </a:moveTo>
                <a:lnTo>
                  <a:pt x="1503775" y="0"/>
                </a:lnTo>
                <a:cubicBezTo>
                  <a:pt x="1574398" y="0"/>
                  <a:pt x="1611094" y="6732"/>
                  <a:pt x="1649507" y="27193"/>
                </a:cubicBezTo>
                <a:cubicBezTo>
                  <a:pt x="1684487" y="45805"/>
                  <a:pt x="1712340" y="73525"/>
                  <a:pt x="1730953" y="108374"/>
                </a:cubicBezTo>
                <a:cubicBezTo>
                  <a:pt x="1751545" y="146655"/>
                  <a:pt x="1758277" y="183219"/>
                  <a:pt x="1758277" y="253445"/>
                </a:cubicBezTo>
                <a:lnTo>
                  <a:pt x="1758277" y="3405671"/>
                </a:lnTo>
                <a:cubicBezTo>
                  <a:pt x="1758277" y="3476029"/>
                  <a:pt x="1751545" y="3512594"/>
                  <a:pt x="1730953" y="3550742"/>
                </a:cubicBezTo>
                <a:cubicBezTo>
                  <a:pt x="1712208" y="3585591"/>
                  <a:pt x="1684487" y="3613179"/>
                  <a:pt x="1649507" y="3631924"/>
                </a:cubicBezTo>
                <a:cubicBezTo>
                  <a:pt x="1611094" y="3652384"/>
                  <a:pt x="1574398" y="3659116"/>
                  <a:pt x="1503775" y="3659116"/>
                </a:cubicBezTo>
                <a:lnTo>
                  <a:pt x="254634" y="3659116"/>
                </a:lnTo>
                <a:cubicBezTo>
                  <a:pt x="184012" y="3659116"/>
                  <a:pt x="147315" y="3652384"/>
                  <a:pt x="108903" y="3631924"/>
                </a:cubicBezTo>
                <a:cubicBezTo>
                  <a:pt x="73922" y="3613311"/>
                  <a:pt x="46069" y="3585591"/>
                  <a:pt x="27458" y="3550742"/>
                </a:cubicBezTo>
                <a:cubicBezTo>
                  <a:pt x="6732" y="3512594"/>
                  <a:pt x="0" y="3476029"/>
                  <a:pt x="0" y="3405671"/>
                </a:cubicBezTo>
                <a:lnTo>
                  <a:pt x="0" y="253445"/>
                </a:lnTo>
                <a:cubicBezTo>
                  <a:pt x="0" y="183088"/>
                  <a:pt x="6732" y="146524"/>
                  <a:pt x="27324" y="108374"/>
                </a:cubicBezTo>
                <a:cubicBezTo>
                  <a:pt x="46069" y="73525"/>
                  <a:pt x="73790" y="45937"/>
                  <a:pt x="108771" y="27193"/>
                </a:cubicBezTo>
                <a:cubicBezTo>
                  <a:pt x="147183" y="6732"/>
                  <a:pt x="183881" y="0"/>
                  <a:pt x="25463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562124" y="1625600"/>
            <a:ext cx="1758277" cy="3659116"/>
          </a:xfrm>
          <a:custGeom>
            <a:avLst/>
            <a:gdLst/>
            <a:ahLst/>
            <a:cxnLst/>
            <a:rect l="l" t="t" r="r" b="b"/>
            <a:pathLst>
              <a:path w="1758277" h="3659116">
                <a:moveTo>
                  <a:pt x="254634" y="0"/>
                </a:moveTo>
                <a:lnTo>
                  <a:pt x="1503775" y="0"/>
                </a:lnTo>
                <a:cubicBezTo>
                  <a:pt x="1574398" y="0"/>
                  <a:pt x="1611094" y="6732"/>
                  <a:pt x="1649507" y="27193"/>
                </a:cubicBezTo>
                <a:cubicBezTo>
                  <a:pt x="1684487" y="45805"/>
                  <a:pt x="1712340" y="73525"/>
                  <a:pt x="1730953" y="108374"/>
                </a:cubicBezTo>
                <a:cubicBezTo>
                  <a:pt x="1751545" y="146655"/>
                  <a:pt x="1758277" y="183219"/>
                  <a:pt x="1758277" y="253445"/>
                </a:cubicBezTo>
                <a:lnTo>
                  <a:pt x="1758277" y="3405671"/>
                </a:lnTo>
                <a:cubicBezTo>
                  <a:pt x="1758277" y="3476029"/>
                  <a:pt x="1751545" y="3512594"/>
                  <a:pt x="1730953" y="3550742"/>
                </a:cubicBezTo>
                <a:cubicBezTo>
                  <a:pt x="1712208" y="3585591"/>
                  <a:pt x="1684487" y="3613179"/>
                  <a:pt x="1649507" y="3631924"/>
                </a:cubicBezTo>
                <a:cubicBezTo>
                  <a:pt x="1611094" y="3652384"/>
                  <a:pt x="1574398" y="3659116"/>
                  <a:pt x="1503775" y="3659116"/>
                </a:cubicBezTo>
                <a:lnTo>
                  <a:pt x="254634" y="3659116"/>
                </a:lnTo>
                <a:cubicBezTo>
                  <a:pt x="184012" y="3659116"/>
                  <a:pt x="147315" y="3652384"/>
                  <a:pt x="108903" y="3631924"/>
                </a:cubicBezTo>
                <a:cubicBezTo>
                  <a:pt x="73922" y="3613311"/>
                  <a:pt x="46069" y="3585591"/>
                  <a:pt x="27458" y="3550742"/>
                </a:cubicBezTo>
                <a:cubicBezTo>
                  <a:pt x="6732" y="3512594"/>
                  <a:pt x="0" y="3476029"/>
                  <a:pt x="0" y="3405671"/>
                </a:cubicBezTo>
                <a:lnTo>
                  <a:pt x="0" y="253445"/>
                </a:lnTo>
                <a:cubicBezTo>
                  <a:pt x="0" y="183088"/>
                  <a:pt x="6732" y="146524"/>
                  <a:pt x="27324" y="108374"/>
                </a:cubicBezTo>
                <a:cubicBezTo>
                  <a:pt x="46069" y="73525"/>
                  <a:pt x="73790" y="45937"/>
                  <a:pt x="108771" y="27193"/>
                </a:cubicBezTo>
                <a:cubicBezTo>
                  <a:pt x="147183" y="6732"/>
                  <a:pt x="183881" y="0"/>
                  <a:pt x="25463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587524" y="1651000"/>
            <a:ext cx="1702967" cy="3611858"/>
          </a:xfrm>
          <a:custGeom>
            <a:avLst/>
            <a:gdLst/>
            <a:ahLst/>
            <a:cxnLst/>
            <a:rect l="l" t="t" r="r" b="b"/>
            <a:pathLst>
              <a:path w="1702967" h="3611858">
                <a:moveTo>
                  <a:pt x="229686" y="0"/>
                </a:moveTo>
                <a:lnTo>
                  <a:pt x="1473151" y="0"/>
                </a:lnTo>
                <a:cubicBezTo>
                  <a:pt x="1540736" y="0"/>
                  <a:pt x="1573209" y="6336"/>
                  <a:pt x="1607134" y="24421"/>
                </a:cubicBezTo>
                <a:cubicBezTo>
                  <a:pt x="1637758" y="40789"/>
                  <a:pt x="1662047" y="65077"/>
                  <a:pt x="1678548" y="95834"/>
                </a:cubicBezTo>
                <a:cubicBezTo>
                  <a:pt x="1696631" y="129626"/>
                  <a:pt x="1702967" y="162231"/>
                  <a:pt x="1702967" y="229817"/>
                </a:cubicBezTo>
                <a:lnTo>
                  <a:pt x="1702967" y="3382043"/>
                </a:lnTo>
                <a:cubicBezTo>
                  <a:pt x="1702967" y="3449629"/>
                  <a:pt x="1696631" y="3482100"/>
                  <a:pt x="1678548" y="3516025"/>
                </a:cubicBezTo>
                <a:cubicBezTo>
                  <a:pt x="1662179" y="3546650"/>
                  <a:pt x="1637890" y="3570939"/>
                  <a:pt x="1607134" y="3587439"/>
                </a:cubicBezTo>
                <a:cubicBezTo>
                  <a:pt x="1573341" y="3605524"/>
                  <a:pt x="1540736" y="3611858"/>
                  <a:pt x="1473151" y="3611858"/>
                </a:cubicBezTo>
                <a:lnTo>
                  <a:pt x="229686" y="3611858"/>
                </a:lnTo>
                <a:cubicBezTo>
                  <a:pt x="162099" y="3611858"/>
                  <a:pt x="129626" y="3605524"/>
                  <a:pt x="95702" y="3587439"/>
                </a:cubicBezTo>
                <a:cubicBezTo>
                  <a:pt x="65077" y="3571071"/>
                  <a:pt x="40789" y="3546782"/>
                  <a:pt x="24289" y="3516025"/>
                </a:cubicBezTo>
                <a:cubicBezTo>
                  <a:pt x="6337" y="3481969"/>
                  <a:pt x="0" y="3449495"/>
                  <a:pt x="0" y="3381911"/>
                </a:cubicBezTo>
                <a:lnTo>
                  <a:pt x="0" y="229685"/>
                </a:lnTo>
                <a:cubicBezTo>
                  <a:pt x="0" y="162099"/>
                  <a:pt x="6337" y="129626"/>
                  <a:pt x="24421" y="95702"/>
                </a:cubicBezTo>
                <a:cubicBezTo>
                  <a:pt x="40789" y="65077"/>
                  <a:pt x="65077" y="40789"/>
                  <a:pt x="95834" y="24289"/>
                </a:cubicBezTo>
                <a:cubicBezTo>
                  <a:pt x="129626" y="6336"/>
                  <a:pt x="162099" y="0"/>
                  <a:pt x="229686" y="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562150" y="1660854"/>
            <a:ext cx="114446" cy="3609219"/>
          </a:xfrm>
          <a:custGeom>
            <a:avLst/>
            <a:gdLst/>
            <a:ahLst/>
            <a:cxnLst/>
            <a:rect l="l" t="t" r="r" b="b"/>
            <a:pathLst>
              <a:path w="114446" h="3609219">
                <a:moveTo>
                  <a:pt x="108770" y="3607768"/>
                </a:moveTo>
                <a:cubicBezTo>
                  <a:pt x="73789" y="3589155"/>
                  <a:pt x="45937" y="3561434"/>
                  <a:pt x="27324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4" y="84217"/>
                </a:cubicBezTo>
                <a:cubicBezTo>
                  <a:pt x="46069" y="49369"/>
                  <a:pt x="73789" y="21648"/>
                  <a:pt x="108770" y="3035"/>
                </a:cubicBezTo>
                <a:cubicBezTo>
                  <a:pt x="114446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0" y="3609219"/>
                  <a:pt x="108770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562150" y="1660854"/>
            <a:ext cx="114446" cy="3609219"/>
          </a:xfrm>
          <a:custGeom>
            <a:avLst/>
            <a:gdLst/>
            <a:ahLst/>
            <a:cxnLst/>
            <a:rect l="l" t="t" r="r" b="b"/>
            <a:pathLst>
              <a:path w="114446" h="3609219">
                <a:moveTo>
                  <a:pt x="108770" y="3607768"/>
                </a:moveTo>
                <a:cubicBezTo>
                  <a:pt x="73789" y="3589155"/>
                  <a:pt x="45937" y="3561434"/>
                  <a:pt x="27324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4" y="84217"/>
                </a:cubicBezTo>
                <a:cubicBezTo>
                  <a:pt x="46069" y="49369"/>
                  <a:pt x="73789" y="21648"/>
                  <a:pt x="108770" y="3035"/>
                </a:cubicBezTo>
                <a:cubicBezTo>
                  <a:pt x="114446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0" y="3609219"/>
                  <a:pt x="108770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 rot="10800000" flipV="1">
            <a:off x="3213109" y="1660854"/>
            <a:ext cx="114447" cy="3609219"/>
          </a:xfrm>
          <a:custGeom>
            <a:avLst/>
            <a:gdLst/>
            <a:ahLst/>
            <a:cxnLst/>
            <a:rect l="l" t="t" r="r" b="b"/>
            <a:pathLst>
              <a:path w="114447" h="3609219">
                <a:moveTo>
                  <a:pt x="108772" y="3607768"/>
                </a:moveTo>
                <a:cubicBezTo>
                  <a:pt x="73789" y="3589155"/>
                  <a:pt x="45937" y="3561434"/>
                  <a:pt x="27325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5" y="84217"/>
                </a:cubicBezTo>
                <a:cubicBezTo>
                  <a:pt x="46069" y="49369"/>
                  <a:pt x="73789" y="21780"/>
                  <a:pt x="108772" y="3035"/>
                </a:cubicBezTo>
                <a:cubicBezTo>
                  <a:pt x="114447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1" y="3609219"/>
                  <a:pt x="108772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 rot="10800000" flipV="1">
            <a:off x="3213109" y="1660854"/>
            <a:ext cx="114447" cy="3609219"/>
          </a:xfrm>
          <a:custGeom>
            <a:avLst/>
            <a:gdLst/>
            <a:ahLst/>
            <a:cxnLst/>
            <a:rect l="l" t="t" r="r" b="b"/>
            <a:pathLst>
              <a:path w="114447" h="3609219">
                <a:moveTo>
                  <a:pt x="108772" y="3607768"/>
                </a:moveTo>
                <a:cubicBezTo>
                  <a:pt x="73789" y="3589155"/>
                  <a:pt x="45937" y="3561434"/>
                  <a:pt x="27325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5" y="84217"/>
                </a:cubicBezTo>
                <a:cubicBezTo>
                  <a:pt x="46069" y="49369"/>
                  <a:pt x="73789" y="21780"/>
                  <a:pt x="108772" y="3035"/>
                </a:cubicBezTo>
                <a:cubicBezTo>
                  <a:pt x="114447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1" y="3609219"/>
                  <a:pt x="108772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511324" y="1917700"/>
            <a:ext cx="30361" cy="22441"/>
          </a:xfrm>
          <a:custGeom>
            <a:avLst/>
            <a:gdLst/>
            <a:ahLst/>
            <a:cxnLst/>
            <a:rect l="l" t="t" r="r" b="b"/>
            <a:pathLst>
              <a:path w="30361" h="22441">
                <a:moveTo>
                  <a:pt x="0" y="0"/>
                </a:moveTo>
                <a:lnTo>
                  <a:pt x="30361" y="0"/>
                </a:lnTo>
                <a:lnTo>
                  <a:pt x="30361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3340124" y="1917700"/>
            <a:ext cx="25080" cy="22441"/>
          </a:xfrm>
          <a:custGeom>
            <a:avLst/>
            <a:gdLst/>
            <a:ahLst/>
            <a:cxnLst/>
            <a:rect l="l" t="t" r="r" b="b"/>
            <a:pathLst>
              <a:path w="25080" h="22441">
                <a:moveTo>
                  <a:pt x="0" y="0"/>
                </a:moveTo>
                <a:lnTo>
                  <a:pt x="25080" y="0"/>
                </a:lnTo>
                <a:lnTo>
                  <a:pt x="25080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11324" y="4978400"/>
            <a:ext cx="30361" cy="22441"/>
          </a:xfrm>
          <a:custGeom>
            <a:avLst/>
            <a:gdLst/>
            <a:ahLst/>
            <a:cxnLst/>
            <a:rect l="l" t="t" r="r" b="b"/>
            <a:pathLst>
              <a:path w="30361" h="22441">
                <a:moveTo>
                  <a:pt x="0" y="0"/>
                </a:moveTo>
                <a:lnTo>
                  <a:pt x="30361" y="0"/>
                </a:lnTo>
                <a:lnTo>
                  <a:pt x="30361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340124" y="4978400"/>
            <a:ext cx="25080" cy="22441"/>
          </a:xfrm>
          <a:custGeom>
            <a:avLst/>
            <a:gdLst/>
            <a:ahLst/>
            <a:cxnLst/>
            <a:rect l="l" t="t" r="r" b="b"/>
            <a:pathLst>
              <a:path w="25080" h="22441">
                <a:moveTo>
                  <a:pt x="0" y="0"/>
                </a:moveTo>
                <a:lnTo>
                  <a:pt x="25080" y="0"/>
                </a:lnTo>
                <a:lnTo>
                  <a:pt x="25080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3009924" y="1587500"/>
            <a:ext cx="22441" cy="30361"/>
          </a:xfrm>
          <a:custGeom>
            <a:avLst/>
            <a:gdLst/>
            <a:ahLst/>
            <a:cxnLst/>
            <a:rect l="l" t="t" r="r" b="b"/>
            <a:pathLst>
              <a:path w="22441" h="30361">
                <a:moveTo>
                  <a:pt x="0" y="0"/>
                </a:moveTo>
                <a:lnTo>
                  <a:pt x="22441" y="0"/>
                </a:lnTo>
                <a:lnTo>
                  <a:pt x="22441" y="30361"/>
                </a:lnTo>
                <a:lnTo>
                  <a:pt x="0" y="3036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854224" y="5308600"/>
            <a:ext cx="22441" cy="30361"/>
          </a:xfrm>
          <a:custGeom>
            <a:avLst/>
            <a:gdLst/>
            <a:ahLst/>
            <a:cxnLst/>
            <a:rect l="l" t="t" r="r" b="b"/>
            <a:pathLst>
              <a:path w="22441" h="30361">
                <a:moveTo>
                  <a:pt x="0" y="0"/>
                </a:moveTo>
                <a:lnTo>
                  <a:pt x="22441" y="0"/>
                </a:lnTo>
                <a:lnTo>
                  <a:pt x="22441" y="30361"/>
                </a:lnTo>
                <a:lnTo>
                  <a:pt x="0" y="3036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511320" y="2044951"/>
            <a:ext cx="14652" cy="132004"/>
          </a:xfrm>
          <a:custGeom>
            <a:avLst/>
            <a:gdLst/>
            <a:ahLst/>
            <a:cxnLst/>
            <a:rect l="l" t="t" r="r" b="b"/>
            <a:pathLst>
              <a:path w="14652" h="132004">
                <a:moveTo>
                  <a:pt x="9241" y="0"/>
                </a:moveTo>
                <a:cubicBezTo>
                  <a:pt x="4092" y="0"/>
                  <a:pt x="0" y="4094"/>
                  <a:pt x="0" y="9241"/>
                </a:cubicBezTo>
                <a:lnTo>
                  <a:pt x="0" y="122764"/>
                </a:lnTo>
                <a:cubicBezTo>
                  <a:pt x="0" y="127912"/>
                  <a:pt x="4092" y="132004"/>
                  <a:pt x="9241" y="132004"/>
                </a:cubicBezTo>
                <a:lnTo>
                  <a:pt x="14522" y="132004"/>
                </a:lnTo>
                <a:cubicBezTo>
                  <a:pt x="14522" y="125008"/>
                  <a:pt x="14652" y="6733"/>
                  <a:pt x="14522" y="0"/>
                </a:cubicBezTo>
                <a:lnTo>
                  <a:pt x="9241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511320" y="2044951"/>
            <a:ext cx="14652" cy="132004"/>
          </a:xfrm>
          <a:custGeom>
            <a:avLst/>
            <a:gdLst/>
            <a:ahLst/>
            <a:cxnLst/>
            <a:rect l="l" t="t" r="r" b="b"/>
            <a:pathLst>
              <a:path w="14652" h="132004">
                <a:moveTo>
                  <a:pt x="9241" y="0"/>
                </a:moveTo>
                <a:cubicBezTo>
                  <a:pt x="4092" y="0"/>
                  <a:pt x="0" y="4094"/>
                  <a:pt x="0" y="9241"/>
                </a:cubicBezTo>
                <a:lnTo>
                  <a:pt x="0" y="122764"/>
                </a:lnTo>
                <a:cubicBezTo>
                  <a:pt x="0" y="127912"/>
                  <a:pt x="4092" y="132004"/>
                  <a:pt x="9241" y="132004"/>
                </a:cubicBezTo>
                <a:lnTo>
                  <a:pt x="14522" y="132004"/>
                </a:lnTo>
                <a:cubicBezTo>
                  <a:pt x="14522" y="125008"/>
                  <a:pt x="14652" y="6733"/>
                  <a:pt x="14522" y="0"/>
                </a:cubicBezTo>
                <a:lnTo>
                  <a:pt x="9241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511320" y="22862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1511320" y="22862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511320" y="26037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1511320" y="26037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 rot="10800000" flipV="1">
            <a:off x="3365480" y="2375151"/>
            <a:ext cx="14520" cy="398648"/>
          </a:xfrm>
          <a:custGeom>
            <a:avLst/>
            <a:gdLst/>
            <a:ahLst/>
            <a:cxnLst/>
            <a:rect l="l" t="t" r="r" b="b"/>
            <a:pathLst>
              <a:path w="14520" h="398648">
                <a:moveTo>
                  <a:pt x="9108" y="0"/>
                </a:moveTo>
                <a:cubicBezTo>
                  <a:pt x="6072" y="793"/>
                  <a:pt x="2508" y="2641"/>
                  <a:pt x="660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258594"/>
                  <a:pt x="0" y="387692"/>
                </a:cubicBezTo>
                <a:cubicBezTo>
                  <a:pt x="0" y="388220"/>
                  <a:pt x="396" y="390993"/>
                  <a:pt x="660" y="391653"/>
                </a:cubicBezTo>
                <a:cubicBezTo>
                  <a:pt x="2244" y="395481"/>
                  <a:pt x="4884" y="396404"/>
                  <a:pt x="9108" y="398648"/>
                </a:cubicBezTo>
                <a:lnTo>
                  <a:pt x="14389" y="398648"/>
                </a:lnTo>
                <a:cubicBezTo>
                  <a:pt x="14389" y="391653"/>
                  <a:pt x="14520" y="6733"/>
                  <a:pt x="14389" y="0"/>
                </a:cubicBezTo>
                <a:lnTo>
                  <a:pt x="9108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2337270" y="1714570"/>
            <a:ext cx="205924" cy="31681"/>
          </a:xfrm>
          <a:custGeom>
            <a:avLst/>
            <a:gdLst/>
            <a:ahLst/>
            <a:cxnLst/>
            <a:rect l="l" t="t" r="r" b="b"/>
            <a:pathLst>
              <a:path w="205924" h="31681">
                <a:moveTo>
                  <a:pt x="15841" y="0"/>
                </a:moveTo>
                <a:lnTo>
                  <a:pt x="190085" y="0"/>
                </a:lnTo>
                <a:cubicBezTo>
                  <a:pt x="198797" y="0"/>
                  <a:pt x="205924" y="7128"/>
                  <a:pt x="205924" y="15841"/>
                </a:cubicBezTo>
                <a:lnTo>
                  <a:pt x="205924" y="15841"/>
                </a:lnTo>
                <a:cubicBezTo>
                  <a:pt x="205924" y="24553"/>
                  <a:pt x="198797" y="31681"/>
                  <a:pt x="190085" y="31681"/>
                </a:cubicBezTo>
                <a:lnTo>
                  <a:pt x="15841" y="31681"/>
                </a:lnTo>
                <a:cubicBezTo>
                  <a:pt x="7128" y="31681"/>
                  <a:pt x="0" y="24553"/>
                  <a:pt x="0" y="15841"/>
                </a:cubicBezTo>
                <a:lnTo>
                  <a:pt x="0" y="15841"/>
                </a:lnTo>
                <a:cubicBezTo>
                  <a:pt x="0" y="7128"/>
                  <a:pt x="7128" y="0"/>
                  <a:pt x="15841" y="0"/>
                </a:cubicBezTo>
                <a:close/>
              </a:path>
            </a:pathLst>
          </a:custGeom>
          <a:solidFill>
            <a:srgbClr val="1D1C1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2337270" y="1714570"/>
            <a:ext cx="205924" cy="27722"/>
          </a:xfrm>
          <a:custGeom>
            <a:avLst/>
            <a:gdLst/>
            <a:ahLst/>
            <a:cxnLst/>
            <a:rect l="l" t="t" r="r" b="b"/>
            <a:pathLst>
              <a:path w="205924" h="27722">
                <a:moveTo>
                  <a:pt x="205924" y="25477"/>
                </a:moveTo>
                <a:lnTo>
                  <a:pt x="205924" y="27721"/>
                </a:lnTo>
                <a:lnTo>
                  <a:pt x="0" y="27721"/>
                </a:lnTo>
                <a:lnTo>
                  <a:pt x="0" y="25344"/>
                </a:lnTo>
                <a:lnTo>
                  <a:pt x="205924" y="25344"/>
                </a:lnTo>
                <a:close/>
                <a:moveTo>
                  <a:pt x="205924" y="19668"/>
                </a:moveTo>
                <a:lnTo>
                  <a:pt x="205924" y="22045"/>
                </a:lnTo>
                <a:lnTo>
                  <a:pt x="0" y="22045"/>
                </a:lnTo>
                <a:lnTo>
                  <a:pt x="0" y="19668"/>
                </a:lnTo>
                <a:lnTo>
                  <a:pt x="205924" y="19668"/>
                </a:lnTo>
                <a:close/>
                <a:moveTo>
                  <a:pt x="205924" y="12672"/>
                </a:moveTo>
                <a:lnTo>
                  <a:pt x="205924" y="15048"/>
                </a:lnTo>
                <a:lnTo>
                  <a:pt x="0" y="15048"/>
                </a:lnTo>
                <a:lnTo>
                  <a:pt x="0" y="12672"/>
                </a:lnTo>
                <a:lnTo>
                  <a:pt x="205924" y="12672"/>
                </a:lnTo>
                <a:close/>
                <a:moveTo>
                  <a:pt x="205924" y="6996"/>
                </a:moveTo>
                <a:lnTo>
                  <a:pt x="205924" y="9240"/>
                </a:lnTo>
                <a:lnTo>
                  <a:pt x="0" y="9240"/>
                </a:lnTo>
                <a:lnTo>
                  <a:pt x="0" y="6996"/>
                </a:lnTo>
                <a:lnTo>
                  <a:pt x="205924" y="6996"/>
                </a:lnTo>
                <a:close/>
                <a:moveTo>
                  <a:pt x="205924" y="0"/>
                </a:moveTo>
                <a:lnTo>
                  <a:pt x="205924" y="2376"/>
                </a:lnTo>
                <a:lnTo>
                  <a:pt x="0" y="2376"/>
                </a:lnTo>
                <a:lnTo>
                  <a:pt x="0" y="0"/>
                </a:lnTo>
                <a:lnTo>
                  <a:pt x="205924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2337270" y="1714570"/>
            <a:ext cx="205924" cy="27722"/>
          </a:xfrm>
          <a:custGeom>
            <a:avLst/>
            <a:gdLst/>
            <a:ahLst/>
            <a:cxnLst/>
            <a:rect l="l" t="t" r="r" b="b"/>
            <a:pathLst>
              <a:path w="205924" h="27722">
                <a:moveTo>
                  <a:pt x="205924" y="25477"/>
                </a:moveTo>
                <a:lnTo>
                  <a:pt x="205924" y="27721"/>
                </a:lnTo>
                <a:lnTo>
                  <a:pt x="0" y="27721"/>
                </a:lnTo>
                <a:lnTo>
                  <a:pt x="0" y="25344"/>
                </a:lnTo>
                <a:lnTo>
                  <a:pt x="205924" y="25344"/>
                </a:lnTo>
                <a:close/>
                <a:moveTo>
                  <a:pt x="205924" y="19668"/>
                </a:moveTo>
                <a:lnTo>
                  <a:pt x="205924" y="22045"/>
                </a:lnTo>
                <a:lnTo>
                  <a:pt x="0" y="22045"/>
                </a:lnTo>
                <a:lnTo>
                  <a:pt x="0" y="19668"/>
                </a:lnTo>
                <a:lnTo>
                  <a:pt x="205924" y="19668"/>
                </a:lnTo>
                <a:close/>
                <a:moveTo>
                  <a:pt x="205924" y="12672"/>
                </a:moveTo>
                <a:lnTo>
                  <a:pt x="205924" y="15048"/>
                </a:lnTo>
                <a:lnTo>
                  <a:pt x="0" y="15048"/>
                </a:lnTo>
                <a:lnTo>
                  <a:pt x="0" y="12672"/>
                </a:lnTo>
                <a:lnTo>
                  <a:pt x="205924" y="12672"/>
                </a:lnTo>
                <a:close/>
                <a:moveTo>
                  <a:pt x="205924" y="6996"/>
                </a:moveTo>
                <a:lnTo>
                  <a:pt x="205924" y="9240"/>
                </a:lnTo>
                <a:lnTo>
                  <a:pt x="0" y="9240"/>
                </a:lnTo>
                <a:lnTo>
                  <a:pt x="0" y="6996"/>
                </a:lnTo>
                <a:lnTo>
                  <a:pt x="205924" y="6996"/>
                </a:lnTo>
                <a:close/>
                <a:moveTo>
                  <a:pt x="205924" y="0"/>
                </a:moveTo>
                <a:lnTo>
                  <a:pt x="205924" y="2376"/>
                </a:lnTo>
                <a:lnTo>
                  <a:pt x="0" y="2376"/>
                </a:lnTo>
                <a:lnTo>
                  <a:pt x="0" y="0"/>
                </a:lnTo>
                <a:lnTo>
                  <a:pt x="205924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2349970" y="1714570"/>
            <a:ext cx="196684" cy="31681"/>
          </a:xfrm>
          <a:custGeom>
            <a:avLst/>
            <a:gdLst/>
            <a:ahLst/>
            <a:cxnLst/>
            <a:rect l="l" t="t" r="r" b="b"/>
            <a:pathLst>
              <a:path w="196684" h="31681">
                <a:moveTo>
                  <a:pt x="2376" y="0"/>
                </a:moveTo>
                <a:lnTo>
                  <a:pt x="2376" y="31681"/>
                </a:lnTo>
                <a:lnTo>
                  <a:pt x="0" y="31681"/>
                </a:lnTo>
                <a:lnTo>
                  <a:pt x="0" y="0"/>
                </a:lnTo>
                <a:lnTo>
                  <a:pt x="2376" y="0"/>
                </a:lnTo>
                <a:close/>
                <a:moveTo>
                  <a:pt x="9372" y="0"/>
                </a:moveTo>
                <a:lnTo>
                  <a:pt x="9372" y="31681"/>
                </a:lnTo>
                <a:lnTo>
                  <a:pt x="6996" y="31681"/>
                </a:lnTo>
                <a:lnTo>
                  <a:pt x="6996" y="0"/>
                </a:lnTo>
                <a:lnTo>
                  <a:pt x="9372" y="0"/>
                </a:lnTo>
                <a:close/>
                <a:moveTo>
                  <a:pt x="15180" y="0"/>
                </a:moveTo>
                <a:lnTo>
                  <a:pt x="15180" y="31681"/>
                </a:lnTo>
                <a:lnTo>
                  <a:pt x="12805" y="31681"/>
                </a:lnTo>
                <a:lnTo>
                  <a:pt x="12805" y="0"/>
                </a:lnTo>
                <a:lnTo>
                  <a:pt x="15180" y="0"/>
                </a:lnTo>
                <a:close/>
                <a:moveTo>
                  <a:pt x="22309" y="0"/>
                </a:moveTo>
                <a:lnTo>
                  <a:pt x="22309" y="31681"/>
                </a:lnTo>
                <a:lnTo>
                  <a:pt x="19933" y="31681"/>
                </a:lnTo>
                <a:lnTo>
                  <a:pt x="19933" y="0"/>
                </a:lnTo>
                <a:lnTo>
                  <a:pt x="22309" y="0"/>
                </a:lnTo>
                <a:close/>
                <a:moveTo>
                  <a:pt x="28116" y="0"/>
                </a:moveTo>
                <a:lnTo>
                  <a:pt x="28116" y="31681"/>
                </a:lnTo>
                <a:lnTo>
                  <a:pt x="25742" y="31681"/>
                </a:lnTo>
                <a:lnTo>
                  <a:pt x="25742" y="0"/>
                </a:lnTo>
                <a:lnTo>
                  <a:pt x="28116" y="0"/>
                </a:lnTo>
                <a:close/>
                <a:moveTo>
                  <a:pt x="35113" y="0"/>
                </a:moveTo>
                <a:lnTo>
                  <a:pt x="35113" y="31681"/>
                </a:lnTo>
                <a:lnTo>
                  <a:pt x="32737" y="31681"/>
                </a:lnTo>
                <a:lnTo>
                  <a:pt x="32737" y="0"/>
                </a:lnTo>
                <a:lnTo>
                  <a:pt x="35113" y="0"/>
                </a:lnTo>
                <a:close/>
                <a:moveTo>
                  <a:pt x="40921" y="0"/>
                </a:moveTo>
                <a:lnTo>
                  <a:pt x="40921" y="31681"/>
                </a:lnTo>
                <a:lnTo>
                  <a:pt x="38678" y="31681"/>
                </a:lnTo>
                <a:lnTo>
                  <a:pt x="38678" y="0"/>
                </a:lnTo>
                <a:lnTo>
                  <a:pt x="40921" y="0"/>
                </a:lnTo>
                <a:close/>
                <a:moveTo>
                  <a:pt x="48049" y="0"/>
                </a:moveTo>
                <a:lnTo>
                  <a:pt x="48049" y="31681"/>
                </a:lnTo>
                <a:lnTo>
                  <a:pt x="45673" y="31681"/>
                </a:lnTo>
                <a:lnTo>
                  <a:pt x="45673" y="0"/>
                </a:lnTo>
                <a:lnTo>
                  <a:pt x="48049" y="0"/>
                </a:lnTo>
                <a:close/>
                <a:moveTo>
                  <a:pt x="53857" y="0"/>
                </a:moveTo>
                <a:lnTo>
                  <a:pt x="53857" y="31681"/>
                </a:lnTo>
                <a:lnTo>
                  <a:pt x="51481" y="31681"/>
                </a:lnTo>
                <a:lnTo>
                  <a:pt x="51481" y="0"/>
                </a:lnTo>
                <a:lnTo>
                  <a:pt x="53857" y="0"/>
                </a:lnTo>
                <a:close/>
                <a:moveTo>
                  <a:pt x="60853" y="0"/>
                </a:moveTo>
                <a:lnTo>
                  <a:pt x="60853" y="31681"/>
                </a:lnTo>
                <a:lnTo>
                  <a:pt x="58477" y="31681"/>
                </a:lnTo>
                <a:lnTo>
                  <a:pt x="58477" y="0"/>
                </a:lnTo>
                <a:lnTo>
                  <a:pt x="60853" y="0"/>
                </a:lnTo>
                <a:close/>
                <a:moveTo>
                  <a:pt x="66793" y="0"/>
                </a:moveTo>
                <a:lnTo>
                  <a:pt x="66793" y="31681"/>
                </a:lnTo>
                <a:lnTo>
                  <a:pt x="64418" y="31681"/>
                </a:lnTo>
                <a:lnTo>
                  <a:pt x="64418" y="0"/>
                </a:lnTo>
                <a:lnTo>
                  <a:pt x="66793" y="0"/>
                </a:lnTo>
                <a:close/>
                <a:moveTo>
                  <a:pt x="73789" y="0"/>
                </a:moveTo>
                <a:lnTo>
                  <a:pt x="73789" y="31681"/>
                </a:lnTo>
                <a:lnTo>
                  <a:pt x="71413" y="31681"/>
                </a:lnTo>
                <a:lnTo>
                  <a:pt x="71413" y="0"/>
                </a:lnTo>
                <a:lnTo>
                  <a:pt x="73789" y="0"/>
                </a:lnTo>
                <a:close/>
                <a:moveTo>
                  <a:pt x="79598" y="0"/>
                </a:moveTo>
                <a:lnTo>
                  <a:pt x="79598" y="31681"/>
                </a:lnTo>
                <a:lnTo>
                  <a:pt x="77222" y="31681"/>
                </a:lnTo>
                <a:lnTo>
                  <a:pt x="77222" y="0"/>
                </a:lnTo>
                <a:lnTo>
                  <a:pt x="79598" y="0"/>
                </a:lnTo>
                <a:close/>
                <a:moveTo>
                  <a:pt x="86594" y="0"/>
                </a:moveTo>
                <a:lnTo>
                  <a:pt x="86594" y="31681"/>
                </a:lnTo>
                <a:lnTo>
                  <a:pt x="84217" y="31681"/>
                </a:lnTo>
                <a:lnTo>
                  <a:pt x="84217" y="0"/>
                </a:lnTo>
                <a:lnTo>
                  <a:pt x="86594" y="0"/>
                </a:lnTo>
                <a:close/>
                <a:moveTo>
                  <a:pt x="93722" y="0"/>
                </a:moveTo>
                <a:lnTo>
                  <a:pt x="93722" y="31681"/>
                </a:lnTo>
                <a:lnTo>
                  <a:pt x="91346" y="31681"/>
                </a:lnTo>
                <a:lnTo>
                  <a:pt x="91346" y="0"/>
                </a:lnTo>
                <a:lnTo>
                  <a:pt x="93722" y="0"/>
                </a:lnTo>
                <a:close/>
                <a:moveTo>
                  <a:pt x="99530" y="0"/>
                </a:moveTo>
                <a:lnTo>
                  <a:pt x="99530" y="31681"/>
                </a:lnTo>
                <a:lnTo>
                  <a:pt x="97154" y="31681"/>
                </a:lnTo>
                <a:lnTo>
                  <a:pt x="97154" y="0"/>
                </a:lnTo>
                <a:lnTo>
                  <a:pt x="99530" y="0"/>
                </a:lnTo>
                <a:close/>
                <a:moveTo>
                  <a:pt x="106526" y="0"/>
                </a:moveTo>
                <a:lnTo>
                  <a:pt x="106526" y="31681"/>
                </a:lnTo>
                <a:lnTo>
                  <a:pt x="104150" y="31681"/>
                </a:lnTo>
                <a:lnTo>
                  <a:pt x="104150" y="0"/>
                </a:lnTo>
                <a:lnTo>
                  <a:pt x="106526" y="0"/>
                </a:lnTo>
                <a:close/>
                <a:moveTo>
                  <a:pt x="112334" y="0"/>
                </a:moveTo>
                <a:lnTo>
                  <a:pt x="112334" y="31681"/>
                </a:lnTo>
                <a:lnTo>
                  <a:pt x="109959" y="31681"/>
                </a:lnTo>
                <a:lnTo>
                  <a:pt x="109959" y="0"/>
                </a:lnTo>
                <a:lnTo>
                  <a:pt x="112334" y="0"/>
                </a:lnTo>
                <a:close/>
                <a:moveTo>
                  <a:pt x="119462" y="0"/>
                </a:moveTo>
                <a:lnTo>
                  <a:pt x="119462" y="31681"/>
                </a:lnTo>
                <a:lnTo>
                  <a:pt x="117086" y="31681"/>
                </a:lnTo>
                <a:lnTo>
                  <a:pt x="117086" y="0"/>
                </a:lnTo>
                <a:lnTo>
                  <a:pt x="119462" y="0"/>
                </a:lnTo>
                <a:close/>
                <a:moveTo>
                  <a:pt x="125270" y="0"/>
                </a:moveTo>
                <a:lnTo>
                  <a:pt x="125270" y="31681"/>
                </a:lnTo>
                <a:lnTo>
                  <a:pt x="122895" y="31681"/>
                </a:lnTo>
                <a:lnTo>
                  <a:pt x="122895" y="0"/>
                </a:lnTo>
                <a:lnTo>
                  <a:pt x="125270" y="0"/>
                </a:lnTo>
                <a:close/>
                <a:moveTo>
                  <a:pt x="132267" y="0"/>
                </a:moveTo>
                <a:lnTo>
                  <a:pt x="132267" y="31681"/>
                </a:lnTo>
                <a:lnTo>
                  <a:pt x="129890" y="31681"/>
                </a:lnTo>
                <a:lnTo>
                  <a:pt x="129890" y="0"/>
                </a:lnTo>
                <a:lnTo>
                  <a:pt x="132267" y="0"/>
                </a:lnTo>
                <a:close/>
                <a:moveTo>
                  <a:pt x="138206" y="0"/>
                </a:moveTo>
                <a:lnTo>
                  <a:pt x="138206" y="31681"/>
                </a:lnTo>
                <a:lnTo>
                  <a:pt x="135831" y="31681"/>
                </a:lnTo>
                <a:lnTo>
                  <a:pt x="135831" y="0"/>
                </a:lnTo>
                <a:lnTo>
                  <a:pt x="138206" y="0"/>
                </a:lnTo>
                <a:close/>
                <a:moveTo>
                  <a:pt x="145203" y="0"/>
                </a:moveTo>
                <a:lnTo>
                  <a:pt x="145203" y="31681"/>
                </a:lnTo>
                <a:lnTo>
                  <a:pt x="142828" y="31681"/>
                </a:lnTo>
                <a:lnTo>
                  <a:pt x="142828" y="0"/>
                </a:lnTo>
                <a:lnTo>
                  <a:pt x="145203" y="0"/>
                </a:lnTo>
                <a:close/>
                <a:moveTo>
                  <a:pt x="151012" y="0"/>
                </a:moveTo>
                <a:lnTo>
                  <a:pt x="151012" y="31681"/>
                </a:lnTo>
                <a:lnTo>
                  <a:pt x="148636" y="31681"/>
                </a:lnTo>
                <a:lnTo>
                  <a:pt x="148636" y="0"/>
                </a:lnTo>
                <a:lnTo>
                  <a:pt x="151012" y="0"/>
                </a:lnTo>
                <a:close/>
                <a:moveTo>
                  <a:pt x="158008" y="0"/>
                </a:moveTo>
                <a:lnTo>
                  <a:pt x="158008" y="31681"/>
                </a:lnTo>
                <a:lnTo>
                  <a:pt x="155631" y="31681"/>
                </a:lnTo>
                <a:lnTo>
                  <a:pt x="155631" y="0"/>
                </a:lnTo>
                <a:lnTo>
                  <a:pt x="158008" y="0"/>
                </a:lnTo>
                <a:close/>
                <a:moveTo>
                  <a:pt x="163948" y="0"/>
                </a:moveTo>
                <a:lnTo>
                  <a:pt x="163948" y="31681"/>
                </a:lnTo>
                <a:lnTo>
                  <a:pt x="161572" y="31681"/>
                </a:lnTo>
                <a:lnTo>
                  <a:pt x="161572" y="0"/>
                </a:lnTo>
                <a:lnTo>
                  <a:pt x="163948" y="0"/>
                </a:lnTo>
                <a:close/>
                <a:moveTo>
                  <a:pt x="170944" y="0"/>
                </a:moveTo>
                <a:lnTo>
                  <a:pt x="170944" y="31681"/>
                </a:lnTo>
                <a:lnTo>
                  <a:pt x="168567" y="31681"/>
                </a:lnTo>
                <a:lnTo>
                  <a:pt x="168567" y="0"/>
                </a:lnTo>
                <a:lnTo>
                  <a:pt x="170944" y="0"/>
                </a:lnTo>
                <a:close/>
                <a:moveTo>
                  <a:pt x="177940" y="0"/>
                </a:moveTo>
                <a:lnTo>
                  <a:pt x="177940" y="31681"/>
                </a:lnTo>
                <a:lnTo>
                  <a:pt x="175563" y="31681"/>
                </a:lnTo>
                <a:lnTo>
                  <a:pt x="175563" y="0"/>
                </a:lnTo>
                <a:lnTo>
                  <a:pt x="177940" y="0"/>
                </a:lnTo>
                <a:close/>
                <a:moveTo>
                  <a:pt x="183747" y="0"/>
                </a:moveTo>
                <a:lnTo>
                  <a:pt x="183747" y="31681"/>
                </a:lnTo>
                <a:lnTo>
                  <a:pt x="181503" y="31681"/>
                </a:lnTo>
                <a:lnTo>
                  <a:pt x="181503" y="0"/>
                </a:lnTo>
                <a:lnTo>
                  <a:pt x="183747" y="0"/>
                </a:lnTo>
                <a:close/>
                <a:moveTo>
                  <a:pt x="190877" y="0"/>
                </a:moveTo>
                <a:lnTo>
                  <a:pt x="190877" y="31681"/>
                </a:lnTo>
                <a:lnTo>
                  <a:pt x="188500" y="31681"/>
                </a:lnTo>
                <a:lnTo>
                  <a:pt x="188500" y="0"/>
                </a:lnTo>
                <a:lnTo>
                  <a:pt x="190877" y="0"/>
                </a:lnTo>
                <a:close/>
                <a:moveTo>
                  <a:pt x="196684" y="0"/>
                </a:moveTo>
                <a:lnTo>
                  <a:pt x="196684" y="31681"/>
                </a:lnTo>
                <a:lnTo>
                  <a:pt x="194309" y="31681"/>
                </a:lnTo>
                <a:lnTo>
                  <a:pt x="194309" y="0"/>
                </a:lnTo>
                <a:lnTo>
                  <a:pt x="196684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2337270" y="1714570"/>
            <a:ext cx="196684" cy="31681"/>
          </a:xfrm>
          <a:custGeom>
            <a:avLst/>
            <a:gdLst/>
            <a:ahLst/>
            <a:cxnLst/>
            <a:rect l="l" t="t" r="r" b="b"/>
            <a:pathLst>
              <a:path w="196684" h="31681">
                <a:moveTo>
                  <a:pt x="2376" y="0"/>
                </a:moveTo>
                <a:lnTo>
                  <a:pt x="2376" y="31681"/>
                </a:lnTo>
                <a:lnTo>
                  <a:pt x="0" y="31681"/>
                </a:lnTo>
                <a:lnTo>
                  <a:pt x="0" y="0"/>
                </a:lnTo>
                <a:lnTo>
                  <a:pt x="2376" y="0"/>
                </a:lnTo>
                <a:close/>
                <a:moveTo>
                  <a:pt x="9372" y="0"/>
                </a:moveTo>
                <a:lnTo>
                  <a:pt x="9372" y="31681"/>
                </a:lnTo>
                <a:lnTo>
                  <a:pt x="6996" y="31681"/>
                </a:lnTo>
                <a:lnTo>
                  <a:pt x="6996" y="0"/>
                </a:lnTo>
                <a:lnTo>
                  <a:pt x="9372" y="0"/>
                </a:lnTo>
                <a:close/>
                <a:moveTo>
                  <a:pt x="15312" y="0"/>
                </a:moveTo>
                <a:lnTo>
                  <a:pt x="15312" y="31681"/>
                </a:lnTo>
                <a:lnTo>
                  <a:pt x="12936" y="31681"/>
                </a:lnTo>
                <a:lnTo>
                  <a:pt x="12936" y="0"/>
                </a:lnTo>
                <a:lnTo>
                  <a:pt x="15312" y="0"/>
                </a:lnTo>
                <a:close/>
                <a:moveTo>
                  <a:pt x="22309" y="0"/>
                </a:moveTo>
                <a:lnTo>
                  <a:pt x="22309" y="31681"/>
                </a:lnTo>
                <a:lnTo>
                  <a:pt x="19933" y="31681"/>
                </a:lnTo>
                <a:lnTo>
                  <a:pt x="19933" y="0"/>
                </a:lnTo>
                <a:lnTo>
                  <a:pt x="22309" y="0"/>
                </a:lnTo>
                <a:close/>
                <a:moveTo>
                  <a:pt x="28116" y="0"/>
                </a:moveTo>
                <a:lnTo>
                  <a:pt x="28116" y="31681"/>
                </a:lnTo>
                <a:lnTo>
                  <a:pt x="25742" y="31681"/>
                </a:lnTo>
                <a:lnTo>
                  <a:pt x="25742" y="0"/>
                </a:lnTo>
                <a:lnTo>
                  <a:pt x="28116" y="0"/>
                </a:lnTo>
                <a:close/>
                <a:moveTo>
                  <a:pt x="35113" y="0"/>
                </a:moveTo>
                <a:lnTo>
                  <a:pt x="35113" y="31681"/>
                </a:lnTo>
                <a:lnTo>
                  <a:pt x="32737" y="31681"/>
                </a:lnTo>
                <a:lnTo>
                  <a:pt x="32737" y="0"/>
                </a:lnTo>
                <a:lnTo>
                  <a:pt x="35113" y="0"/>
                </a:lnTo>
                <a:close/>
                <a:moveTo>
                  <a:pt x="41053" y="0"/>
                </a:moveTo>
                <a:lnTo>
                  <a:pt x="41053" y="31681"/>
                </a:lnTo>
                <a:lnTo>
                  <a:pt x="38678" y="31681"/>
                </a:lnTo>
                <a:lnTo>
                  <a:pt x="38678" y="0"/>
                </a:lnTo>
                <a:lnTo>
                  <a:pt x="41053" y="0"/>
                </a:lnTo>
                <a:close/>
                <a:moveTo>
                  <a:pt x="48049" y="0"/>
                </a:moveTo>
                <a:lnTo>
                  <a:pt x="48049" y="31681"/>
                </a:lnTo>
                <a:lnTo>
                  <a:pt x="45673" y="31681"/>
                </a:lnTo>
                <a:lnTo>
                  <a:pt x="45673" y="0"/>
                </a:lnTo>
                <a:lnTo>
                  <a:pt x="48049" y="0"/>
                </a:lnTo>
                <a:close/>
                <a:moveTo>
                  <a:pt x="53857" y="0"/>
                </a:moveTo>
                <a:lnTo>
                  <a:pt x="53857" y="31681"/>
                </a:lnTo>
                <a:lnTo>
                  <a:pt x="51481" y="31681"/>
                </a:lnTo>
                <a:lnTo>
                  <a:pt x="51481" y="0"/>
                </a:lnTo>
                <a:lnTo>
                  <a:pt x="53857" y="0"/>
                </a:lnTo>
                <a:close/>
                <a:moveTo>
                  <a:pt x="60853" y="0"/>
                </a:moveTo>
                <a:lnTo>
                  <a:pt x="60853" y="31681"/>
                </a:lnTo>
                <a:lnTo>
                  <a:pt x="58477" y="31681"/>
                </a:lnTo>
                <a:lnTo>
                  <a:pt x="58477" y="0"/>
                </a:lnTo>
                <a:lnTo>
                  <a:pt x="60853" y="0"/>
                </a:lnTo>
                <a:close/>
                <a:moveTo>
                  <a:pt x="66793" y="0"/>
                </a:moveTo>
                <a:lnTo>
                  <a:pt x="66793" y="31681"/>
                </a:lnTo>
                <a:lnTo>
                  <a:pt x="64418" y="31681"/>
                </a:lnTo>
                <a:lnTo>
                  <a:pt x="64418" y="0"/>
                </a:lnTo>
                <a:lnTo>
                  <a:pt x="66793" y="0"/>
                </a:lnTo>
                <a:close/>
                <a:moveTo>
                  <a:pt x="73789" y="0"/>
                </a:moveTo>
                <a:lnTo>
                  <a:pt x="73789" y="31681"/>
                </a:lnTo>
                <a:lnTo>
                  <a:pt x="71413" y="31681"/>
                </a:lnTo>
                <a:lnTo>
                  <a:pt x="71413" y="0"/>
                </a:lnTo>
                <a:lnTo>
                  <a:pt x="73789" y="0"/>
                </a:lnTo>
                <a:close/>
                <a:moveTo>
                  <a:pt x="79598" y="0"/>
                </a:moveTo>
                <a:lnTo>
                  <a:pt x="79598" y="31681"/>
                </a:lnTo>
                <a:lnTo>
                  <a:pt x="77354" y="31681"/>
                </a:lnTo>
                <a:lnTo>
                  <a:pt x="77354" y="0"/>
                </a:lnTo>
                <a:lnTo>
                  <a:pt x="79598" y="0"/>
                </a:lnTo>
                <a:close/>
                <a:moveTo>
                  <a:pt x="86726" y="0"/>
                </a:moveTo>
                <a:lnTo>
                  <a:pt x="86726" y="31681"/>
                </a:lnTo>
                <a:lnTo>
                  <a:pt x="84349" y="31681"/>
                </a:lnTo>
                <a:lnTo>
                  <a:pt x="84349" y="0"/>
                </a:lnTo>
                <a:lnTo>
                  <a:pt x="86726" y="0"/>
                </a:lnTo>
                <a:close/>
                <a:moveTo>
                  <a:pt x="93722" y="0"/>
                </a:moveTo>
                <a:lnTo>
                  <a:pt x="93722" y="31681"/>
                </a:lnTo>
                <a:lnTo>
                  <a:pt x="91346" y="31681"/>
                </a:lnTo>
                <a:lnTo>
                  <a:pt x="91346" y="0"/>
                </a:lnTo>
                <a:lnTo>
                  <a:pt x="93722" y="0"/>
                </a:lnTo>
                <a:close/>
                <a:moveTo>
                  <a:pt x="99530" y="0"/>
                </a:moveTo>
                <a:lnTo>
                  <a:pt x="99530" y="31681"/>
                </a:lnTo>
                <a:lnTo>
                  <a:pt x="97154" y="31681"/>
                </a:lnTo>
                <a:lnTo>
                  <a:pt x="97154" y="0"/>
                </a:lnTo>
                <a:lnTo>
                  <a:pt x="99530" y="0"/>
                </a:lnTo>
                <a:close/>
                <a:moveTo>
                  <a:pt x="106526" y="0"/>
                </a:moveTo>
                <a:lnTo>
                  <a:pt x="106526" y="31681"/>
                </a:lnTo>
                <a:lnTo>
                  <a:pt x="104150" y="31681"/>
                </a:lnTo>
                <a:lnTo>
                  <a:pt x="104150" y="0"/>
                </a:lnTo>
                <a:lnTo>
                  <a:pt x="106526" y="0"/>
                </a:lnTo>
                <a:close/>
                <a:moveTo>
                  <a:pt x="112466" y="0"/>
                </a:moveTo>
                <a:lnTo>
                  <a:pt x="112466" y="31681"/>
                </a:lnTo>
                <a:lnTo>
                  <a:pt x="110090" y="31681"/>
                </a:lnTo>
                <a:lnTo>
                  <a:pt x="110090" y="0"/>
                </a:lnTo>
                <a:lnTo>
                  <a:pt x="112466" y="0"/>
                </a:lnTo>
                <a:close/>
                <a:moveTo>
                  <a:pt x="119462" y="0"/>
                </a:moveTo>
                <a:lnTo>
                  <a:pt x="119462" y="31681"/>
                </a:lnTo>
                <a:lnTo>
                  <a:pt x="117086" y="31681"/>
                </a:lnTo>
                <a:lnTo>
                  <a:pt x="117086" y="0"/>
                </a:lnTo>
                <a:lnTo>
                  <a:pt x="119462" y="0"/>
                </a:lnTo>
                <a:close/>
                <a:moveTo>
                  <a:pt x="125270" y="0"/>
                </a:moveTo>
                <a:lnTo>
                  <a:pt x="125270" y="31681"/>
                </a:lnTo>
                <a:lnTo>
                  <a:pt x="122895" y="31681"/>
                </a:lnTo>
                <a:lnTo>
                  <a:pt x="122895" y="0"/>
                </a:lnTo>
                <a:lnTo>
                  <a:pt x="125270" y="0"/>
                </a:lnTo>
                <a:close/>
                <a:moveTo>
                  <a:pt x="132267" y="0"/>
                </a:moveTo>
                <a:lnTo>
                  <a:pt x="132267" y="31681"/>
                </a:lnTo>
                <a:lnTo>
                  <a:pt x="129890" y="31681"/>
                </a:lnTo>
                <a:lnTo>
                  <a:pt x="129890" y="0"/>
                </a:lnTo>
                <a:lnTo>
                  <a:pt x="132267" y="0"/>
                </a:lnTo>
                <a:close/>
                <a:moveTo>
                  <a:pt x="138206" y="0"/>
                </a:moveTo>
                <a:lnTo>
                  <a:pt x="138206" y="31681"/>
                </a:lnTo>
                <a:lnTo>
                  <a:pt x="135831" y="31681"/>
                </a:lnTo>
                <a:lnTo>
                  <a:pt x="135831" y="0"/>
                </a:lnTo>
                <a:lnTo>
                  <a:pt x="138206" y="0"/>
                </a:lnTo>
                <a:close/>
                <a:moveTo>
                  <a:pt x="145203" y="0"/>
                </a:moveTo>
                <a:lnTo>
                  <a:pt x="145203" y="31681"/>
                </a:lnTo>
                <a:lnTo>
                  <a:pt x="142828" y="31681"/>
                </a:lnTo>
                <a:lnTo>
                  <a:pt x="142828" y="0"/>
                </a:lnTo>
                <a:lnTo>
                  <a:pt x="145203" y="0"/>
                </a:lnTo>
                <a:close/>
                <a:moveTo>
                  <a:pt x="151012" y="0"/>
                </a:moveTo>
                <a:lnTo>
                  <a:pt x="151012" y="31681"/>
                </a:lnTo>
                <a:lnTo>
                  <a:pt x="148636" y="31681"/>
                </a:lnTo>
                <a:lnTo>
                  <a:pt x="148636" y="0"/>
                </a:lnTo>
                <a:lnTo>
                  <a:pt x="151012" y="0"/>
                </a:lnTo>
                <a:close/>
                <a:moveTo>
                  <a:pt x="158139" y="0"/>
                </a:moveTo>
                <a:lnTo>
                  <a:pt x="158139" y="31681"/>
                </a:lnTo>
                <a:lnTo>
                  <a:pt x="155764" y="31681"/>
                </a:lnTo>
                <a:lnTo>
                  <a:pt x="155764" y="0"/>
                </a:lnTo>
                <a:lnTo>
                  <a:pt x="158139" y="0"/>
                </a:lnTo>
                <a:close/>
                <a:moveTo>
                  <a:pt x="163948" y="0"/>
                </a:moveTo>
                <a:lnTo>
                  <a:pt x="163948" y="31681"/>
                </a:lnTo>
                <a:lnTo>
                  <a:pt x="161572" y="31681"/>
                </a:lnTo>
                <a:lnTo>
                  <a:pt x="161572" y="0"/>
                </a:lnTo>
                <a:lnTo>
                  <a:pt x="163948" y="0"/>
                </a:lnTo>
                <a:close/>
                <a:moveTo>
                  <a:pt x="170944" y="0"/>
                </a:moveTo>
                <a:lnTo>
                  <a:pt x="170944" y="31681"/>
                </a:lnTo>
                <a:lnTo>
                  <a:pt x="168567" y="31681"/>
                </a:lnTo>
                <a:lnTo>
                  <a:pt x="168567" y="0"/>
                </a:lnTo>
                <a:lnTo>
                  <a:pt x="170944" y="0"/>
                </a:lnTo>
                <a:close/>
                <a:moveTo>
                  <a:pt x="177940" y="0"/>
                </a:moveTo>
                <a:lnTo>
                  <a:pt x="177940" y="31681"/>
                </a:lnTo>
                <a:lnTo>
                  <a:pt x="175563" y="31681"/>
                </a:lnTo>
                <a:lnTo>
                  <a:pt x="175563" y="0"/>
                </a:lnTo>
                <a:lnTo>
                  <a:pt x="177940" y="0"/>
                </a:lnTo>
                <a:close/>
                <a:moveTo>
                  <a:pt x="183881" y="0"/>
                </a:moveTo>
                <a:lnTo>
                  <a:pt x="183881" y="31681"/>
                </a:lnTo>
                <a:lnTo>
                  <a:pt x="181503" y="31681"/>
                </a:lnTo>
                <a:lnTo>
                  <a:pt x="181503" y="0"/>
                </a:lnTo>
                <a:lnTo>
                  <a:pt x="183881" y="0"/>
                </a:lnTo>
                <a:close/>
                <a:moveTo>
                  <a:pt x="190877" y="0"/>
                </a:moveTo>
                <a:lnTo>
                  <a:pt x="190877" y="31681"/>
                </a:lnTo>
                <a:lnTo>
                  <a:pt x="188500" y="31681"/>
                </a:lnTo>
                <a:lnTo>
                  <a:pt x="188500" y="0"/>
                </a:lnTo>
                <a:lnTo>
                  <a:pt x="190877" y="0"/>
                </a:lnTo>
                <a:close/>
                <a:moveTo>
                  <a:pt x="196684" y="0"/>
                </a:moveTo>
                <a:lnTo>
                  <a:pt x="196684" y="31681"/>
                </a:lnTo>
                <a:lnTo>
                  <a:pt x="194309" y="31681"/>
                </a:lnTo>
                <a:lnTo>
                  <a:pt x="194309" y="0"/>
                </a:lnTo>
                <a:lnTo>
                  <a:pt x="196684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337270" y="1714570"/>
            <a:ext cx="205924" cy="31681"/>
          </a:xfrm>
          <a:custGeom>
            <a:avLst/>
            <a:gdLst/>
            <a:ahLst/>
            <a:cxnLst/>
            <a:rect l="l" t="t" r="r" b="b"/>
            <a:pathLst>
              <a:path w="205924" h="31681">
                <a:moveTo>
                  <a:pt x="15841" y="0"/>
                </a:moveTo>
                <a:lnTo>
                  <a:pt x="190085" y="0"/>
                </a:lnTo>
                <a:cubicBezTo>
                  <a:pt x="198797" y="0"/>
                  <a:pt x="205924" y="7128"/>
                  <a:pt x="205924" y="15841"/>
                </a:cubicBezTo>
                <a:lnTo>
                  <a:pt x="205924" y="15841"/>
                </a:lnTo>
                <a:cubicBezTo>
                  <a:pt x="205924" y="24553"/>
                  <a:pt x="198797" y="31681"/>
                  <a:pt x="190085" y="31681"/>
                </a:cubicBezTo>
                <a:lnTo>
                  <a:pt x="15841" y="31681"/>
                </a:lnTo>
                <a:cubicBezTo>
                  <a:pt x="7128" y="31681"/>
                  <a:pt x="0" y="24553"/>
                  <a:pt x="0" y="15841"/>
                </a:cubicBezTo>
                <a:lnTo>
                  <a:pt x="0" y="15841"/>
                </a:lnTo>
                <a:cubicBezTo>
                  <a:pt x="0" y="7128"/>
                  <a:pt x="7128" y="0"/>
                  <a:pt x="1584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604110" y="1701862"/>
            <a:ext cx="55441" cy="55441"/>
          </a:xfrm>
          <a:custGeom>
            <a:avLst/>
            <a:gdLst/>
            <a:ahLst/>
            <a:cxnLst/>
            <a:rect l="l" t="t" r="r" b="b"/>
            <a:pathLst>
              <a:path w="55441" h="55441">
                <a:moveTo>
                  <a:pt x="55440" y="27721"/>
                </a:moveTo>
                <a:cubicBezTo>
                  <a:pt x="55440" y="43030"/>
                  <a:pt x="43030" y="55441"/>
                  <a:pt x="27721" y="55441"/>
                </a:cubicBezTo>
                <a:cubicBezTo>
                  <a:pt x="12411" y="55441"/>
                  <a:pt x="0" y="43030"/>
                  <a:pt x="0" y="27721"/>
                </a:cubicBezTo>
                <a:cubicBezTo>
                  <a:pt x="0" y="12411"/>
                  <a:pt x="12411" y="0"/>
                  <a:pt x="27721" y="0"/>
                </a:cubicBezTo>
                <a:cubicBezTo>
                  <a:pt x="43030" y="0"/>
                  <a:pt x="55440" y="12411"/>
                  <a:pt x="55440" y="27721"/>
                </a:cubicBezTo>
                <a:close/>
              </a:path>
            </a:pathLst>
          </a:custGeom>
          <a:solidFill>
            <a:srgbClr val="4343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2616810" y="1714562"/>
            <a:ext cx="29040" cy="29040"/>
          </a:xfrm>
          <a:custGeom>
            <a:avLst/>
            <a:gdLst/>
            <a:ahLst/>
            <a:cxnLst/>
            <a:rect l="l" t="t" r="r" b="b"/>
            <a:pathLst>
              <a:path w="29040" h="29040">
                <a:moveTo>
                  <a:pt x="29039" y="14520"/>
                </a:moveTo>
                <a:cubicBezTo>
                  <a:pt x="29039" y="22539"/>
                  <a:pt x="22538" y="29040"/>
                  <a:pt x="14520" y="29040"/>
                </a:cubicBezTo>
                <a:cubicBezTo>
                  <a:pt x="6501" y="29040"/>
                  <a:pt x="0" y="22539"/>
                  <a:pt x="0" y="14520"/>
                </a:cubicBezTo>
                <a:cubicBezTo>
                  <a:pt x="0" y="6501"/>
                  <a:pt x="6501" y="0"/>
                  <a:pt x="14520" y="0"/>
                </a:cubicBezTo>
                <a:cubicBezTo>
                  <a:pt x="22538" y="0"/>
                  <a:pt x="29039" y="6501"/>
                  <a:pt x="29039" y="1452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2616810" y="1714562"/>
            <a:ext cx="29040" cy="29040"/>
          </a:xfrm>
          <a:custGeom>
            <a:avLst/>
            <a:gdLst/>
            <a:ahLst/>
            <a:cxnLst/>
            <a:rect l="l" t="t" r="r" b="b"/>
            <a:pathLst>
              <a:path w="29040" h="29040">
                <a:moveTo>
                  <a:pt x="29039" y="14520"/>
                </a:moveTo>
                <a:cubicBezTo>
                  <a:pt x="29039" y="22539"/>
                  <a:pt x="22538" y="29040"/>
                  <a:pt x="14520" y="29040"/>
                </a:cubicBezTo>
                <a:cubicBezTo>
                  <a:pt x="6501" y="29040"/>
                  <a:pt x="0" y="22539"/>
                  <a:pt x="0" y="14520"/>
                </a:cubicBezTo>
                <a:cubicBezTo>
                  <a:pt x="0" y="6501"/>
                  <a:pt x="6501" y="0"/>
                  <a:pt x="14520" y="0"/>
                </a:cubicBezTo>
                <a:cubicBezTo>
                  <a:pt x="22538" y="0"/>
                  <a:pt x="29039" y="6501"/>
                  <a:pt x="29039" y="14520"/>
                </a:cubicBezTo>
                <a:close/>
              </a:path>
            </a:pathLst>
          </a:custGeom>
          <a:solidFill>
            <a:srgbClr val="2A48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2601739" y="1714147"/>
            <a:ext cx="13992" cy="24816"/>
          </a:xfrm>
          <a:custGeom>
            <a:avLst/>
            <a:gdLst/>
            <a:ahLst/>
            <a:cxnLst/>
            <a:rect l="l" t="t" r="r" b="b"/>
            <a:pathLst>
              <a:path w="13992" h="24816">
                <a:moveTo>
                  <a:pt x="9107" y="10428"/>
                </a:moveTo>
                <a:cubicBezTo>
                  <a:pt x="10427" y="5279"/>
                  <a:pt x="13991" y="1319"/>
                  <a:pt x="11351" y="659"/>
                </a:cubicBezTo>
                <a:cubicBezTo>
                  <a:pt x="8712" y="0"/>
                  <a:pt x="7919" y="0"/>
                  <a:pt x="3959" y="9768"/>
                </a:cubicBezTo>
                <a:cubicBezTo>
                  <a:pt x="0" y="19536"/>
                  <a:pt x="4356" y="23496"/>
                  <a:pt x="7127" y="24157"/>
                </a:cubicBezTo>
                <a:cubicBezTo>
                  <a:pt x="9899" y="24816"/>
                  <a:pt x="7787" y="15575"/>
                  <a:pt x="9107" y="10428"/>
                </a:cubicBezTo>
                <a:close/>
              </a:path>
            </a:pathLst>
          </a:custGeom>
          <a:solidFill>
            <a:srgbClr val="3E89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2629510" y="1714562"/>
            <a:ext cx="17160" cy="22441"/>
          </a:xfrm>
          <a:custGeom>
            <a:avLst/>
            <a:gdLst/>
            <a:ahLst/>
            <a:cxnLst/>
            <a:rect l="l" t="t" r="r" b="b"/>
            <a:pathLst>
              <a:path w="17160" h="22441">
                <a:moveTo>
                  <a:pt x="17160" y="11221"/>
                </a:moveTo>
                <a:cubicBezTo>
                  <a:pt x="17160" y="17417"/>
                  <a:pt x="13318" y="22441"/>
                  <a:pt x="8580" y="22441"/>
                </a:cubicBezTo>
                <a:cubicBezTo>
                  <a:pt x="3841" y="22441"/>
                  <a:pt x="0" y="17417"/>
                  <a:pt x="0" y="11221"/>
                </a:cubicBezTo>
                <a:cubicBezTo>
                  <a:pt x="0" y="5023"/>
                  <a:pt x="3841" y="0"/>
                  <a:pt x="8580" y="0"/>
                </a:cubicBezTo>
                <a:cubicBezTo>
                  <a:pt x="13318" y="0"/>
                  <a:pt x="17160" y="5023"/>
                  <a:pt x="17160" y="11221"/>
                </a:cubicBezTo>
                <a:close/>
              </a:path>
            </a:pathLst>
          </a:custGeom>
          <a:solidFill>
            <a:srgbClr val="1C58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 rot="-959999">
            <a:off x="2616810" y="1727262"/>
            <a:ext cx="25874" cy="16897"/>
          </a:xfrm>
          <a:custGeom>
            <a:avLst/>
            <a:gdLst/>
            <a:ahLst/>
            <a:cxnLst/>
            <a:rect l="l" t="t" r="r" b="b"/>
            <a:pathLst>
              <a:path w="25874" h="16897">
                <a:moveTo>
                  <a:pt x="25873" y="8448"/>
                </a:moveTo>
                <a:cubicBezTo>
                  <a:pt x="25873" y="13114"/>
                  <a:pt x="20081" y="16898"/>
                  <a:pt x="12936" y="16898"/>
                </a:cubicBezTo>
                <a:cubicBezTo>
                  <a:pt x="5792" y="16898"/>
                  <a:pt x="0" y="13114"/>
                  <a:pt x="0" y="8448"/>
                </a:cubicBezTo>
                <a:cubicBezTo>
                  <a:pt x="0" y="3782"/>
                  <a:pt x="5792" y="0"/>
                  <a:pt x="12936" y="0"/>
                </a:cubicBezTo>
                <a:cubicBezTo>
                  <a:pt x="20081" y="0"/>
                  <a:pt x="25873" y="3782"/>
                  <a:pt x="25873" y="8448"/>
                </a:cubicBezTo>
                <a:close/>
              </a:path>
            </a:pathLst>
          </a:custGeom>
          <a:solidFill>
            <a:srgbClr val="0A15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1028700" y="5270500"/>
            <a:ext cx="2832100" cy="152400"/>
          </a:xfrm>
          <a:prstGeom prst="ellipse">
            <a:avLst/>
          </a:prstGeom>
          <a:solidFill>
            <a:srgbClr val="1A1A1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rcRect l="40047" r="40047"/>
          <a:stretch>
            <a:fillRect/>
          </a:stretch>
        </p:blipFill>
        <p:spPr>
          <a:xfrm>
            <a:off x="1625600" y="1689100"/>
            <a:ext cx="1778000" cy="3543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7" name="AutoShape 47"/>
          <p:cNvSpPr/>
          <p:nvPr/>
        </p:nvSpPr>
        <p:spPr>
          <a:xfrm>
            <a:off x="425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3B82F6">
                  <a:alpha val="100000"/>
                </a:srgbClr>
              </a:gs>
              <a:gs pos="60000">
                <a:srgbClr val="2563EB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2563EB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4369003" y="2032207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178001" h="133500">
                <a:moveTo>
                  <a:pt x="168466" y="0"/>
                </a:moveTo>
                <a:cubicBezTo>
                  <a:pt x="173741" y="0"/>
                  <a:pt x="178001" y="4260"/>
                  <a:pt x="178001" y="9536"/>
                </a:cubicBezTo>
                <a:lnTo>
                  <a:pt x="178001" y="123965"/>
                </a:lnTo>
                <a:cubicBezTo>
                  <a:pt x="178001" y="129240"/>
                  <a:pt x="173741" y="133500"/>
                  <a:pt x="168466" y="133500"/>
                </a:cubicBezTo>
                <a:lnTo>
                  <a:pt x="9535" y="133500"/>
                </a:lnTo>
                <a:cubicBezTo>
                  <a:pt x="4259" y="133500"/>
                  <a:pt x="0" y="129240"/>
                  <a:pt x="0" y="123965"/>
                </a:cubicBezTo>
                <a:lnTo>
                  <a:pt x="0" y="9536"/>
                </a:lnTo>
                <a:cubicBezTo>
                  <a:pt x="0" y="4260"/>
                  <a:pt x="4259" y="0"/>
                  <a:pt x="9535" y="0"/>
                </a:cubicBezTo>
                <a:lnTo>
                  <a:pt x="168466" y="0"/>
                </a:lnTo>
                <a:close/>
                <a:moveTo>
                  <a:pt x="130418" y="66083"/>
                </a:moveTo>
                <a:cubicBezTo>
                  <a:pt x="126222" y="62904"/>
                  <a:pt x="120246" y="63730"/>
                  <a:pt x="117068" y="67926"/>
                </a:cubicBezTo>
                <a:lnTo>
                  <a:pt x="117068" y="67926"/>
                </a:lnTo>
                <a:lnTo>
                  <a:pt x="88937" y="105115"/>
                </a:lnTo>
                <a:cubicBezTo>
                  <a:pt x="88682" y="105465"/>
                  <a:pt x="88396" y="105752"/>
                  <a:pt x="88110" y="106069"/>
                </a:cubicBezTo>
                <a:cubicBezTo>
                  <a:pt x="84423" y="109819"/>
                  <a:pt x="78385" y="109851"/>
                  <a:pt x="74633" y="106164"/>
                </a:cubicBezTo>
                <a:lnTo>
                  <a:pt x="74633" y="106164"/>
                </a:lnTo>
                <a:lnTo>
                  <a:pt x="53909" y="85695"/>
                </a:lnTo>
                <a:cubicBezTo>
                  <a:pt x="53686" y="85504"/>
                  <a:pt x="53495" y="85282"/>
                  <a:pt x="53273" y="85123"/>
                </a:cubicBezTo>
                <a:cubicBezTo>
                  <a:pt x="49205" y="81784"/>
                  <a:pt x="43197" y="82357"/>
                  <a:pt x="39859" y="86426"/>
                </a:cubicBezTo>
                <a:lnTo>
                  <a:pt x="39859" y="86426"/>
                </a:lnTo>
                <a:lnTo>
                  <a:pt x="10648" y="121962"/>
                </a:lnTo>
                <a:cubicBezTo>
                  <a:pt x="10172" y="122535"/>
                  <a:pt x="9918" y="123233"/>
                  <a:pt x="9918" y="123965"/>
                </a:cubicBezTo>
                <a:cubicBezTo>
                  <a:pt x="9918" y="125712"/>
                  <a:pt x="11348" y="127144"/>
                  <a:pt x="13095" y="127144"/>
                </a:cubicBezTo>
                <a:lnTo>
                  <a:pt x="13095" y="127144"/>
                </a:lnTo>
                <a:lnTo>
                  <a:pt x="165731" y="127144"/>
                </a:lnTo>
                <a:cubicBezTo>
                  <a:pt x="166368" y="127144"/>
                  <a:pt x="166971" y="126953"/>
                  <a:pt x="167480" y="126603"/>
                </a:cubicBezTo>
                <a:cubicBezTo>
                  <a:pt x="168942" y="125617"/>
                  <a:pt x="169323" y="123647"/>
                  <a:pt x="168369" y="122184"/>
                </a:cubicBezTo>
                <a:lnTo>
                  <a:pt x="168369" y="122184"/>
                </a:lnTo>
                <a:lnTo>
                  <a:pt x="132611" y="68372"/>
                </a:lnTo>
                <a:cubicBezTo>
                  <a:pt x="132007" y="67513"/>
                  <a:pt x="131275" y="66718"/>
                  <a:pt x="130418" y="66083"/>
                </a:cubicBezTo>
                <a:close/>
                <a:moveTo>
                  <a:pt x="31786" y="19072"/>
                </a:moveTo>
                <a:cubicBezTo>
                  <a:pt x="24761" y="19072"/>
                  <a:pt x="19072" y="24761"/>
                  <a:pt x="19072" y="31786"/>
                </a:cubicBezTo>
                <a:cubicBezTo>
                  <a:pt x="19072" y="38810"/>
                  <a:pt x="24761" y="44501"/>
                  <a:pt x="31786" y="44501"/>
                </a:cubicBezTo>
                <a:cubicBezTo>
                  <a:pt x="38810" y="44501"/>
                  <a:pt x="44500" y="38810"/>
                  <a:pt x="44500" y="31786"/>
                </a:cubicBezTo>
                <a:cubicBezTo>
                  <a:pt x="44500" y="24761"/>
                  <a:pt x="38810" y="19072"/>
                  <a:pt x="31786" y="1907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41529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AI药师智能体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41656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基于医疗垂类大模型微调，支持多轮自然语言交互。精准提供合规OTC药品推荐、用法用量及禁忌提示，从源头保障用户的用药安全与专业指导。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5380901">
            <a:off x="5334000" y="3041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679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0B981">
                  <a:alpha val="100000"/>
                </a:srgbClr>
              </a:gs>
              <a:gs pos="60000">
                <a:srgbClr val="05966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059669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909167" y="2006803"/>
            <a:ext cx="162386" cy="178002"/>
          </a:xfrm>
          <a:custGeom>
            <a:avLst/>
            <a:gdLst/>
            <a:ahLst/>
            <a:cxnLst/>
            <a:rect l="l" t="t" r="r" b="b"/>
            <a:pathLst>
              <a:path w="162386" h="178002">
                <a:moveTo>
                  <a:pt x="81194" y="0"/>
                </a:moveTo>
                <a:cubicBezTo>
                  <a:pt x="126036" y="0"/>
                  <a:pt x="162386" y="36350"/>
                  <a:pt x="162386" y="81194"/>
                </a:cubicBezTo>
                <a:cubicBezTo>
                  <a:pt x="162386" y="117450"/>
                  <a:pt x="138622" y="148179"/>
                  <a:pt x="105801" y="158609"/>
                </a:cubicBezTo>
                <a:lnTo>
                  <a:pt x="113389" y="171756"/>
                </a:lnTo>
                <a:lnTo>
                  <a:pt x="137404" y="171756"/>
                </a:lnTo>
                <a:lnTo>
                  <a:pt x="137404" y="178002"/>
                </a:lnTo>
                <a:lnTo>
                  <a:pt x="24982" y="178002"/>
                </a:lnTo>
                <a:lnTo>
                  <a:pt x="24982" y="171756"/>
                </a:lnTo>
                <a:lnTo>
                  <a:pt x="48997" y="171756"/>
                </a:lnTo>
                <a:lnTo>
                  <a:pt x="56585" y="158609"/>
                </a:lnTo>
                <a:cubicBezTo>
                  <a:pt x="23764" y="148179"/>
                  <a:pt x="0" y="117450"/>
                  <a:pt x="0" y="81194"/>
                </a:cubicBezTo>
                <a:cubicBezTo>
                  <a:pt x="0" y="36350"/>
                  <a:pt x="36350" y="0"/>
                  <a:pt x="81194" y="0"/>
                </a:cubicBezTo>
                <a:close/>
                <a:moveTo>
                  <a:pt x="62831" y="160295"/>
                </a:moveTo>
                <a:lnTo>
                  <a:pt x="56210" y="171756"/>
                </a:lnTo>
                <a:lnTo>
                  <a:pt x="106176" y="171756"/>
                </a:lnTo>
                <a:lnTo>
                  <a:pt x="99555" y="160295"/>
                </a:lnTo>
                <a:cubicBezTo>
                  <a:pt x="93654" y="161669"/>
                  <a:pt x="87500" y="162387"/>
                  <a:pt x="81194" y="162387"/>
                </a:cubicBezTo>
                <a:cubicBezTo>
                  <a:pt x="74886" y="162387"/>
                  <a:pt x="68734" y="161669"/>
                  <a:pt x="62831" y="160295"/>
                </a:cubicBezTo>
                <a:close/>
                <a:moveTo>
                  <a:pt x="81194" y="46843"/>
                </a:moveTo>
                <a:cubicBezTo>
                  <a:pt x="62206" y="46843"/>
                  <a:pt x="46843" y="62207"/>
                  <a:pt x="46843" y="81194"/>
                </a:cubicBezTo>
                <a:cubicBezTo>
                  <a:pt x="46843" y="100180"/>
                  <a:pt x="62206" y="115545"/>
                  <a:pt x="81194" y="115545"/>
                </a:cubicBezTo>
                <a:cubicBezTo>
                  <a:pt x="100180" y="115545"/>
                  <a:pt x="115545" y="100180"/>
                  <a:pt x="115545" y="81194"/>
                </a:cubicBezTo>
                <a:cubicBezTo>
                  <a:pt x="115545" y="62207"/>
                  <a:pt x="100180" y="46843"/>
                  <a:pt x="81194" y="46843"/>
                </a:cubicBezTo>
                <a:close/>
                <a:moveTo>
                  <a:pt x="120228" y="37474"/>
                </a:moveTo>
                <a:cubicBezTo>
                  <a:pt x="117636" y="37474"/>
                  <a:pt x="115545" y="39567"/>
                  <a:pt x="115545" y="42159"/>
                </a:cubicBezTo>
                <a:cubicBezTo>
                  <a:pt x="115545" y="44751"/>
                  <a:pt x="117636" y="46843"/>
                  <a:pt x="120228" y="46843"/>
                </a:cubicBezTo>
                <a:cubicBezTo>
                  <a:pt x="122820" y="46843"/>
                  <a:pt x="124912" y="44751"/>
                  <a:pt x="124912" y="42159"/>
                </a:cubicBezTo>
                <a:cubicBezTo>
                  <a:pt x="124912" y="39567"/>
                  <a:pt x="122820" y="37474"/>
                  <a:pt x="120228" y="3747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54"/>
          <p:cNvSpPr/>
          <p:nvPr/>
        </p:nvSpPr>
        <p:spPr>
          <a:xfrm>
            <a:off x="67056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视觉分拣机器人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7183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以6轴高精度机械臂为终端，融合条码、OCR与机器视觉技术。自动完成药品识别、精准抓取与订单核对，同时实现库存的实时同步与动态管理。</a:t>
            </a:r>
            <a:endParaRPr lang="en-US" sz="1100"/>
          </a:p>
        </p:txBody>
      </p:sp>
      <p:cxnSp>
        <p:nvCxnSpPr>
          <p:cNvPr id="56" name="Connector 56"/>
          <p:cNvCxnSpPr/>
          <p:nvPr/>
        </p:nvCxnSpPr>
        <p:spPr>
          <a:xfrm rot="5380901">
            <a:off x="7810500" y="3041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/>
          <p:cNvSpPr/>
          <p:nvPr/>
        </p:nvSpPr>
        <p:spPr>
          <a:xfrm>
            <a:off x="933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59E0B">
                  <a:alpha val="100000"/>
                </a:srgbClr>
              </a:gs>
              <a:gs pos="60000">
                <a:srgbClr val="D9770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D9770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58"/>
          <p:cNvSpPr/>
          <p:nvPr/>
        </p:nvSpPr>
        <p:spPr>
          <a:xfrm>
            <a:off x="9448668" y="2019510"/>
            <a:ext cx="178599" cy="148189"/>
          </a:xfrm>
          <a:custGeom>
            <a:avLst/>
            <a:gdLst/>
            <a:ahLst/>
            <a:cxnLst/>
            <a:rect l="l" t="t" r="r" b="b"/>
            <a:pathLst>
              <a:path w="178599" h="148189">
                <a:moveTo>
                  <a:pt x="163683" y="45101"/>
                </a:moveTo>
                <a:cubicBezTo>
                  <a:pt x="171930" y="45101"/>
                  <a:pt x="178599" y="51770"/>
                  <a:pt x="178599" y="60016"/>
                </a:cubicBezTo>
                <a:cubicBezTo>
                  <a:pt x="178599" y="60403"/>
                  <a:pt x="178599" y="60789"/>
                  <a:pt x="178567" y="61175"/>
                </a:cubicBezTo>
                <a:lnTo>
                  <a:pt x="174056" y="119936"/>
                </a:lnTo>
                <a:cubicBezTo>
                  <a:pt x="173670" y="124961"/>
                  <a:pt x="169481" y="128859"/>
                  <a:pt x="164424" y="128859"/>
                </a:cubicBezTo>
                <a:lnTo>
                  <a:pt x="154019" y="128859"/>
                </a:lnTo>
                <a:lnTo>
                  <a:pt x="154019" y="148188"/>
                </a:lnTo>
                <a:lnTo>
                  <a:pt x="147575" y="148188"/>
                </a:lnTo>
                <a:lnTo>
                  <a:pt x="147575" y="128859"/>
                </a:lnTo>
                <a:lnTo>
                  <a:pt x="31603" y="128859"/>
                </a:lnTo>
                <a:lnTo>
                  <a:pt x="31603" y="148188"/>
                </a:lnTo>
                <a:lnTo>
                  <a:pt x="25159" y="148188"/>
                </a:lnTo>
                <a:lnTo>
                  <a:pt x="25159" y="128859"/>
                </a:lnTo>
                <a:lnTo>
                  <a:pt x="14787" y="128859"/>
                </a:lnTo>
                <a:cubicBezTo>
                  <a:pt x="9728" y="128859"/>
                  <a:pt x="5541" y="124961"/>
                  <a:pt x="5154" y="119936"/>
                </a:cubicBezTo>
                <a:lnTo>
                  <a:pt x="644" y="61175"/>
                </a:lnTo>
                <a:cubicBezTo>
                  <a:pt x="0" y="52961"/>
                  <a:pt x="6153" y="45777"/>
                  <a:pt x="14367" y="45166"/>
                </a:cubicBezTo>
                <a:cubicBezTo>
                  <a:pt x="14754" y="45133"/>
                  <a:pt x="15141" y="45133"/>
                  <a:pt x="15527" y="45133"/>
                </a:cubicBezTo>
                <a:cubicBezTo>
                  <a:pt x="24869" y="45133"/>
                  <a:pt x="32890" y="51770"/>
                  <a:pt x="34599" y="60951"/>
                </a:cubicBezTo>
                <a:lnTo>
                  <a:pt x="41266" y="96644"/>
                </a:lnTo>
                <a:lnTo>
                  <a:pt x="137912" y="96644"/>
                </a:lnTo>
                <a:lnTo>
                  <a:pt x="144612" y="60918"/>
                </a:lnTo>
                <a:cubicBezTo>
                  <a:pt x="146319" y="51737"/>
                  <a:pt x="154340" y="45101"/>
                  <a:pt x="163683" y="45101"/>
                </a:cubicBezTo>
                <a:close/>
                <a:moveTo>
                  <a:pt x="141132" y="0"/>
                </a:moveTo>
                <a:cubicBezTo>
                  <a:pt x="153600" y="0"/>
                  <a:pt x="163683" y="10083"/>
                  <a:pt x="163683" y="22551"/>
                </a:cubicBezTo>
                <a:lnTo>
                  <a:pt x="163683" y="38818"/>
                </a:lnTo>
                <a:cubicBezTo>
                  <a:pt x="162877" y="38722"/>
                  <a:pt x="162072" y="38658"/>
                  <a:pt x="161267" y="38658"/>
                </a:cubicBezTo>
                <a:cubicBezTo>
                  <a:pt x="150797" y="38658"/>
                  <a:pt x="141778" y="45938"/>
                  <a:pt x="139489" y="56085"/>
                </a:cubicBezTo>
                <a:lnTo>
                  <a:pt x="139329" y="56859"/>
                </a:lnTo>
                <a:lnTo>
                  <a:pt x="133079" y="90201"/>
                </a:lnTo>
                <a:lnTo>
                  <a:pt x="46098" y="90201"/>
                </a:lnTo>
                <a:lnTo>
                  <a:pt x="39849" y="56859"/>
                </a:lnTo>
                <a:cubicBezTo>
                  <a:pt x="37884" y="46292"/>
                  <a:pt x="28638" y="38658"/>
                  <a:pt x="17911" y="38658"/>
                </a:cubicBezTo>
                <a:lnTo>
                  <a:pt x="18716" y="22551"/>
                </a:lnTo>
                <a:cubicBezTo>
                  <a:pt x="18716" y="10083"/>
                  <a:pt x="28800" y="0"/>
                  <a:pt x="41266" y="0"/>
                </a:cubicBezTo>
                <a:lnTo>
                  <a:pt x="14113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59"/>
          <p:cNvSpPr/>
          <p:nvPr/>
        </p:nvSpPr>
        <p:spPr>
          <a:xfrm>
            <a:off x="92456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全流程闭环服务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2583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业内首创“AI咨询+机械臂执行”的深度协同模式。构建从“用户症状输入”到“药品自动出库”的完整链路，打破信息与物理壁垒，实现高效交付。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4152900" y="4279900"/>
            <a:ext cx="787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行业首创的智慧医药服务新范式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4178300" y="4826000"/>
            <a:ext cx="787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前沿AI技术与工业级自动化硬件的深度融合，该方案重塑了医药零售服务流程。不仅实现了7x24小时全天候响应，更通过全链路数字化管控，大幅提升了服务的精准度与安全性，为智慧医药零售行业树立了全新的技术标杆与服务标准。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一站式全链路服务闭环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11303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D9D58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D9D587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054100" y="1524000"/>
            <a:ext cx="357797" cy="357797"/>
          </a:xfrm>
          <a:custGeom>
            <a:avLst/>
            <a:gdLst/>
            <a:ahLst/>
            <a:cxnLst/>
            <a:rect l="l" t="t" r="r" b="b"/>
            <a:pathLst>
              <a:path w="357797" h="357797">
                <a:moveTo>
                  <a:pt x="178899" y="191677"/>
                </a:moveTo>
                <a:cubicBezTo>
                  <a:pt x="231930" y="191677"/>
                  <a:pt x="274737" y="148869"/>
                  <a:pt x="274737" y="95838"/>
                </a:cubicBezTo>
                <a:cubicBezTo>
                  <a:pt x="274737" y="42808"/>
                  <a:pt x="231930" y="0"/>
                  <a:pt x="178899" y="0"/>
                </a:cubicBezTo>
                <a:cubicBezTo>
                  <a:pt x="125868" y="0"/>
                  <a:pt x="83061" y="42808"/>
                  <a:pt x="83061" y="95838"/>
                </a:cubicBezTo>
                <a:cubicBezTo>
                  <a:pt x="83061" y="148869"/>
                  <a:pt x="125868" y="191677"/>
                  <a:pt x="178899" y="191677"/>
                </a:cubicBezTo>
                <a:close/>
                <a:moveTo>
                  <a:pt x="178899" y="12779"/>
                </a:moveTo>
                <a:cubicBezTo>
                  <a:pt x="224900" y="12779"/>
                  <a:pt x="261959" y="49836"/>
                  <a:pt x="261959" y="95838"/>
                </a:cubicBezTo>
                <a:cubicBezTo>
                  <a:pt x="261959" y="141841"/>
                  <a:pt x="224900" y="178899"/>
                  <a:pt x="178899" y="178899"/>
                </a:cubicBezTo>
                <a:cubicBezTo>
                  <a:pt x="132897" y="178899"/>
                  <a:pt x="95838" y="141841"/>
                  <a:pt x="95838" y="95838"/>
                </a:cubicBezTo>
                <a:cubicBezTo>
                  <a:pt x="95838" y="49836"/>
                  <a:pt x="132897" y="12779"/>
                  <a:pt x="178899" y="12779"/>
                </a:cubicBezTo>
                <a:close/>
                <a:moveTo>
                  <a:pt x="315628" y="223623"/>
                </a:moveTo>
                <a:lnTo>
                  <a:pt x="42169" y="223623"/>
                </a:lnTo>
                <a:lnTo>
                  <a:pt x="0" y="265792"/>
                </a:lnTo>
                <a:lnTo>
                  <a:pt x="0" y="357797"/>
                </a:lnTo>
                <a:lnTo>
                  <a:pt x="12779" y="357797"/>
                </a:lnTo>
                <a:lnTo>
                  <a:pt x="12779" y="270904"/>
                </a:lnTo>
                <a:lnTo>
                  <a:pt x="47281" y="236402"/>
                </a:lnTo>
                <a:lnTo>
                  <a:pt x="310516" y="236402"/>
                </a:lnTo>
                <a:lnTo>
                  <a:pt x="345018" y="270904"/>
                </a:lnTo>
                <a:lnTo>
                  <a:pt x="345018" y="357797"/>
                </a:lnTo>
                <a:lnTo>
                  <a:pt x="357797" y="357797"/>
                </a:lnTo>
                <a:lnTo>
                  <a:pt x="357797" y="265792"/>
                </a:lnTo>
                <a:lnTo>
                  <a:pt x="315628" y="223623"/>
                </a:lnTo>
                <a:close/>
                <a:moveTo>
                  <a:pt x="230012" y="313073"/>
                </a:moveTo>
                <a:lnTo>
                  <a:pt x="306683" y="313073"/>
                </a:lnTo>
                <a:lnTo>
                  <a:pt x="306683" y="300294"/>
                </a:lnTo>
                <a:lnTo>
                  <a:pt x="230012" y="300294"/>
                </a:lnTo>
                <a:lnTo>
                  <a:pt x="230012" y="31307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485900" y="20320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44700" y="1536700"/>
            <a:ext cx="419100" cy="419100"/>
          </a:xfrm>
          <a:prstGeom prst="roundRect">
            <a:avLst>
              <a:gd name="adj" fmla="val 0"/>
            </a:avLst>
          </a:prstGeom>
          <a:solidFill>
            <a:srgbClr val="D9D58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D9D587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347">
            <a:off x="1816099" y="17526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641600" y="15367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全流程闭环服务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41600" y="19050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业内首创软硬件深度融合，形成“症状输入—药品出库”的完整服务链路，差异化优势显著。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37338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2E664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2E6640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079500" y="4114800"/>
            <a:ext cx="290072" cy="357797"/>
          </a:xfrm>
          <a:custGeom>
            <a:avLst/>
            <a:gdLst/>
            <a:ahLst/>
            <a:cxnLst/>
            <a:rect l="l" t="t" r="r" b="b"/>
            <a:pathLst>
              <a:path w="290072" h="357797">
                <a:moveTo>
                  <a:pt x="42126" y="323808"/>
                </a:moveTo>
                <a:cubicBezTo>
                  <a:pt x="37480" y="323808"/>
                  <a:pt x="33636" y="327647"/>
                  <a:pt x="33636" y="332285"/>
                </a:cubicBezTo>
                <a:lnTo>
                  <a:pt x="33636" y="340763"/>
                </a:lnTo>
                <a:lnTo>
                  <a:pt x="256036" y="340763"/>
                </a:lnTo>
                <a:lnTo>
                  <a:pt x="256036" y="332285"/>
                </a:lnTo>
                <a:cubicBezTo>
                  <a:pt x="256036" y="327647"/>
                  <a:pt x="252192" y="323808"/>
                  <a:pt x="247467" y="323808"/>
                </a:cubicBezTo>
                <a:close/>
                <a:moveTo>
                  <a:pt x="136067" y="289340"/>
                </a:moveTo>
                <a:lnTo>
                  <a:pt x="136067" y="306775"/>
                </a:lnTo>
                <a:lnTo>
                  <a:pt x="153205" y="306775"/>
                </a:lnTo>
                <a:lnTo>
                  <a:pt x="153205" y="289420"/>
                </a:lnTo>
                <a:cubicBezTo>
                  <a:pt x="150482" y="289580"/>
                  <a:pt x="147759" y="289660"/>
                  <a:pt x="145037" y="289660"/>
                </a:cubicBezTo>
                <a:cubicBezTo>
                  <a:pt x="142074" y="289660"/>
                  <a:pt x="139029" y="289580"/>
                  <a:pt x="136067" y="289340"/>
                </a:cubicBezTo>
                <a:close/>
                <a:moveTo>
                  <a:pt x="144642" y="178877"/>
                </a:moveTo>
                <a:cubicBezTo>
                  <a:pt x="149367" y="178877"/>
                  <a:pt x="153212" y="182639"/>
                  <a:pt x="153212" y="187359"/>
                </a:cubicBezTo>
                <a:cubicBezTo>
                  <a:pt x="153212" y="192080"/>
                  <a:pt x="149367" y="195922"/>
                  <a:pt x="144642" y="195922"/>
                </a:cubicBezTo>
                <a:cubicBezTo>
                  <a:pt x="139917" y="195922"/>
                  <a:pt x="136074" y="199762"/>
                  <a:pt x="136074" y="204484"/>
                </a:cubicBezTo>
                <a:cubicBezTo>
                  <a:pt x="136074" y="209205"/>
                  <a:pt x="139917" y="213125"/>
                  <a:pt x="144642" y="213125"/>
                </a:cubicBezTo>
                <a:cubicBezTo>
                  <a:pt x="149447" y="213125"/>
                  <a:pt x="153292" y="209205"/>
                  <a:pt x="153292" y="204484"/>
                </a:cubicBezTo>
                <a:cubicBezTo>
                  <a:pt x="153292" y="199762"/>
                  <a:pt x="157136" y="196002"/>
                  <a:pt x="161780" y="196002"/>
                </a:cubicBezTo>
                <a:cubicBezTo>
                  <a:pt x="166506" y="196002"/>
                  <a:pt x="170349" y="199762"/>
                  <a:pt x="170349" y="204484"/>
                </a:cubicBezTo>
                <a:cubicBezTo>
                  <a:pt x="170349" y="218647"/>
                  <a:pt x="158817" y="230170"/>
                  <a:pt x="144642" y="230170"/>
                </a:cubicBezTo>
                <a:cubicBezTo>
                  <a:pt x="130547" y="230170"/>
                  <a:pt x="119016" y="218647"/>
                  <a:pt x="119016" y="204484"/>
                </a:cubicBezTo>
                <a:cubicBezTo>
                  <a:pt x="119016" y="190320"/>
                  <a:pt x="130547" y="178877"/>
                  <a:pt x="144642" y="178877"/>
                </a:cubicBezTo>
                <a:close/>
                <a:moveTo>
                  <a:pt x="144642" y="170327"/>
                </a:moveTo>
                <a:cubicBezTo>
                  <a:pt x="125823" y="170327"/>
                  <a:pt x="110448" y="185605"/>
                  <a:pt x="110448" y="204481"/>
                </a:cubicBezTo>
                <a:cubicBezTo>
                  <a:pt x="110448" y="223359"/>
                  <a:pt x="125823" y="238717"/>
                  <a:pt x="144642" y="238717"/>
                </a:cubicBezTo>
                <a:cubicBezTo>
                  <a:pt x="163542" y="238717"/>
                  <a:pt x="178918" y="223359"/>
                  <a:pt x="178918" y="204481"/>
                </a:cubicBezTo>
                <a:cubicBezTo>
                  <a:pt x="178918" y="185605"/>
                  <a:pt x="163542" y="170327"/>
                  <a:pt x="144642" y="170327"/>
                </a:cubicBezTo>
                <a:close/>
                <a:moveTo>
                  <a:pt x="144642" y="153210"/>
                </a:moveTo>
                <a:cubicBezTo>
                  <a:pt x="172991" y="153210"/>
                  <a:pt x="195974" y="176247"/>
                  <a:pt x="195974" y="204481"/>
                </a:cubicBezTo>
                <a:cubicBezTo>
                  <a:pt x="195974" y="232797"/>
                  <a:pt x="172991" y="255754"/>
                  <a:pt x="144642" y="255754"/>
                </a:cubicBezTo>
                <a:cubicBezTo>
                  <a:pt x="116374" y="255754"/>
                  <a:pt x="93391" y="232797"/>
                  <a:pt x="93391" y="204481"/>
                </a:cubicBezTo>
                <a:cubicBezTo>
                  <a:pt x="93391" y="176247"/>
                  <a:pt x="116374" y="153210"/>
                  <a:pt x="144642" y="153210"/>
                </a:cubicBezTo>
                <a:close/>
                <a:moveTo>
                  <a:pt x="145037" y="17035"/>
                </a:moveTo>
                <a:cubicBezTo>
                  <a:pt x="74480" y="17035"/>
                  <a:pt x="17139" y="74375"/>
                  <a:pt x="17139" y="144830"/>
                </a:cubicBezTo>
                <a:cubicBezTo>
                  <a:pt x="17139" y="215287"/>
                  <a:pt x="74480" y="272546"/>
                  <a:pt x="145037" y="272546"/>
                </a:cubicBezTo>
                <a:cubicBezTo>
                  <a:pt x="215593" y="272546"/>
                  <a:pt x="273013" y="215287"/>
                  <a:pt x="273013" y="144830"/>
                </a:cubicBezTo>
                <a:cubicBezTo>
                  <a:pt x="273013" y="74375"/>
                  <a:pt x="215593" y="17035"/>
                  <a:pt x="145037" y="17035"/>
                </a:cubicBezTo>
                <a:close/>
                <a:moveTo>
                  <a:pt x="145037" y="0"/>
                </a:moveTo>
                <a:cubicBezTo>
                  <a:pt x="225041" y="0"/>
                  <a:pt x="290072" y="64938"/>
                  <a:pt x="290072" y="144830"/>
                </a:cubicBezTo>
                <a:cubicBezTo>
                  <a:pt x="290072" y="216085"/>
                  <a:pt x="238257" y="275505"/>
                  <a:pt x="170263" y="287421"/>
                </a:cubicBezTo>
                <a:lnTo>
                  <a:pt x="170263" y="306775"/>
                </a:lnTo>
                <a:lnTo>
                  <a:pt x="247467" y="306775"/>
                </a:lnTo>
                <a:cubicBezTo>
                  <a:pt x="261642" y="306775"/>
                  <a:pt x="273094" y="318210"/>
                  <a:pt x="273094" y="332285"/>
                </a:cubicBezTo>
                <a:lnTo>
                  <a:pt x="273094" y="349320"/>
                </a:lnTo>
                <a:cubicBezTo>
                  <a:pt x="273094" y="354038"/>
                  <a:pt x="269330" y="357797"/>
                  <a:pt x="264604" y="357797"/>
                </a:cubicBezTo>
                <a:lnTo>
                  <a:pt x="25067" y="357797"/>
                </a:lnTo>
                <a:cubicBezTo>
                  <a:pt x="20342" y="357797"/>
                  <a:pt x="16499" y="354038"/>
                  <a:pt x="16499" y="349320"/>
                </a:cubicBezTo>
                <a:lnTo>
                  <a:pt x="16499" y="332285"/>
                </a:lnTo>
                <a:cubicBezTo>
                  <a:pt x="16499" y="318210"/>
                  <a:pt x="28030" y="306775"/>
                  <a:pt x="42126" y="306775"/>
                </a:cubicBezTo>
                <a:lnTo>
                  <a:pt x="119008" y="306775"/>
                </a:lnTo>
                <a:lnTo>
                  <a:pt x="119008" y="287341"/>
                </a:lnTo>
                <a:cubicBezTo>
                  <a:pt x="51416" y="275025"/>
                  <a:pt x="0" y="215765"/>
                  <a:pt x="0" y="144830"/>
                </a:cubicBezTo>
                <a:cubicBezTo>
                  <a:pt x="0" y="64938"/>
                  <a:pt x="65110" y="0"/>
                  <a:pt x="14503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485900" y="46355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44700" y="4140200"/>
            <a:ext cx="419100" cy="419100"/>
          </a:xfrm>
          <a:prstGeom prst="roundRect">
            <a:avLst>
              <a:gd name="adj" fmla="val 0"/>
            </a:avLst>
          </a:prstGeom>
          <a:solidFill>
            <a:srgbClr val="2E664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2E6640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347">
            <a:off x="1816099" y="43561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641600" y="41402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识别精准可靠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641600" y="45085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通过条码、OCR文字、视觉定位三重校验机制，大幅提升药品识别与分拣的准确率，运行稳定可靠。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388600" y="11303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BEA1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BEA15E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795000" y="1524000"/>
            <a:ext cx="307402" cy="357797"/>
          </a:xfrm>
          <a:custGeom>
            <a:avLst/>
            <a:gdLst/>
            <a:ahLst/>
            <a:cxnLst/>
            <a:rect l="l" t="t" r="r" b="b"/>
            <a:pathLst>
              <a:path w="307402" h="357797">
                <a:moveTo>
                  <a:pt x="267791" y="259845"/>
                </a:moveTo>
                <a:lnTo>
                  <a:pt x="267791" y="346476"/>
                </a:lnTo>
                <a:lnTo>
                  <a:pt x="294192" y="346476"/>
                </a:lnTo>
                <a:lnTo>
                  <a:pt x="294192" y="259845"/>
                </a:lnTo>
                <a:close/>
                <a:moveTo>
                  <a:pt x="230105" y="259845"/>
                </a:moveTo>
                <a:lnTo>
                  <a:pt x="230105" y="346476"/>
                </a:lnTo>
                <a:lnTo>
                  <a:pt x="256454" y="346476"/>
                </a:lnTo>
                <a:lnTo>
                  <a:pt x="256454" y="259845"/>
                </a:lnTo>
                <a:close/>
                <a:moveTo>
                  <a:pt x="111063" y="254603"/>
                </a:moveTo>
                <a:cubicBezTo>
                  <a:pt x="100513" y="263462"/>
                  <a:pt x="82300" y="273051"/>
                  <a:pt x="79939" y="274310"/>
                </a:cubicBezTo>
                <a:lnTo>
                  <a:pt x="79519" y="274519"/>
                </a:lnTo>
                <a:lnTo>
                  <a:pt x="79046" y="274677"/>
                </a:lnTo>
                <a:cubicBezTo>
                  <a:pt x="13437" y="295745"/>
                  <a:pt x="11389" y="332168"/>
                  <a:pt x="11337" y="333374"/>
                </a:cubicBezTo>
                <a:lnTo>
                  <a:pt x="11337" y="346476"/>
                </a:lnTo>
                <a:lnTo>
                  <a:pt x="218768" y="346476"/>
                </a:lnTo>
                <a:lnTo>
                  <a:pt x="218768" y="274624"/>
                </a:lnTo>
                <a:lnTo>
                  <a:pt x="218506" y="274519"/>
                </a:lnTo>
                <a:lnTo>
                  <a:pt x="218034" y="274310"/>
                </a:lnTo>
                <a:cubicBezTo>
                  <a:pt x="215671" y="273051"/>
                  <a:pt x="197458" y="263462"/>
                  <a:pt x="186908" y="254603"/>
                </a:cubicBezTo>
                <a:cubicBezTo>
                  <a:pt x="180346" y="260735"/>
                  <a:pt x="166700" y="271165"/>
                  <a:pt x="149012" y="271165"/>
                </a:cubicBezTo>
                <a:cubicBezTo>
                  <a:pt x="131271" y="271165"/>
                  <a:pt x="117625" y="260735"/>
                  <a:pt x="111063" y="254603"/>
                </a:cubicBezTo>
                <a:close/>
                <a:moveTo>
                  <a:pt x="181028" y="231438"/>
                </a:moveTo>
                <a:cubicBezTo>
                  <a:pt x="171056" y="235317"/>
                  <a:pt x="160297" y="237256"/>
                  <a:pt x="149012" y="237256"/>
                </a:cubicBezTo>
                <a:cubicBezTo>
                  <a:pt x="137569" y="237256"/>
                  <a:pt x="126862" y="235317"/>
                  <a:pt x="116942" y="231491"/>
                </a:cubicBezTo>
                <a:lnTo>
                  <a:pt x="116942" y="244489"/>
                </a:lnTo>
                <a:cubicBezTo>
                  <a:pt x="120827" y="248524"/>
                  <a:pt x="133161" y="259845"/>
                  <a:pt x="149012" y="259845"/>
                </a:cubicBezTo>
                <a:cubicBezTo>
                  <a:pt x="164810" y="259845"/>
                  <a:pt x="177145" y="248524"/>
                  <a:pt x="181028" y="244489"/>
                </a:cubicBezTo>
                <a:close/>
                <a:moveTo>
                  <a:pt x="256431" y="209027"/>
                </a:moveTo>
                <a:lnTo>
                  <a:pt x="267769" y="209027"/>
                </a:lnTo>
                <a:lnTo>
                  <a:pt x="267769" y="225934"/>
                </a:lnTo>
                <a:lnTo>
                  <a:pt x="307402" y="225934"/>
                </a:lnTo>
                <a:lnTo>
                  <a:pt x="307402" y="237241"/>
                </a:lnTo>
                <a:lnTo>
                  <a:pt x="216850" y="237241"/>
                </a:lnTo>
                <a:lnTo>
                  <a:pt x="216850" y="225934"/>
                </a:lnTo>
                <a:lnTo>
                  <a:pt x="256431" y="225934"/>
                </a:lnTo>
                <a:close/>
                <a:moveTo>
                  <a:pt x="131009" y="76727"/>
                </a:moveTo>
                <a:cubicBezTo>
                  <a:pt x="105343" y="101045"/>
                  <a:pt x="82090" y="107177"/>
                  <a:pt x="71698" y="108697"/>
                </a:cubicBezTo>
                <a:lnTo>
                  <a:pt x="71698" y="124314"/>
                </a:lnTo>
                <a:lnTo>
                  <a:pt x="66030" y="124314"/>
                </a:lnTo>
                <a:cubicBezTo>
                  <a:pt x="62040" y="124314"/>
                  <a:pt x="49075" y="124996"/>
                  <a:pt x="49075" y="133695"/>
                </a:cubicBezTo>
                <a:cubicBezTo>
                  <a:pt x="49075" y="140980"/>
                  <a:pt x="59625" y="149261"/>
                  <a:pt x="67814" y="150362"/>
                </a:cubicBezTo>
                <a:lnTo>
                  <a:pt x="72117" y="150938"/>
                </a:lnTo>
                <a:lnTo>
                  <a:pt x="72695" y="155236"/>
                </a:lnTo>
                <a:cubicBezTo>
                  <a:pt x="76580" y="183327"/>
                  <a:pt x="91591" y="206125"/>
                  <a:pt x="113897" y="217707"/>
                </a:cubicBezTo>
                <a:cubicBezTo>
                  <a:pt x="124343" y="223158"/>
                  <a:pt x="136153" y="225936"/>
                  <a:pt x="149012" y="225936"/>
                </a:cubicBezTo>
                <a:cubicBezTo>
                  <a:pt x="161661" y="225936"/>
                  <a:pt x="173471" y="223158"/>
                  <a:pt x="184126" y="217707"/>
                </a:cubicBezTo>
                <a:cubicBezTo>
                  <a:pt x="206380" y="206125"/>
                  <a:pt x="221393" y="183327"/>
                  <a:pt x="225276" y="155236"/>
                </a:cubicBezTo>
                <a:lnTo>
                  <a:pt x="225906" y="150938"/>
                </a:lnTo>
                <a:lnTo>
                  <a:pt x="230158" y="150362"/>
                </a:lnTo>
                <a:cubicBezTo>
                  <a:pt x="238346" y="149261"/>
                  <a:pt x="248948" y="140980"/>
                  <a:pt x="248948" y="133695"/>
                </a:cubicBezTo>
                <a:cubicBezTo>
                  <a:pt x="248948" y="124996"/>
                  <a:pt x="235932" y="124314"/>
                  <a:pt x="231943" y="124314"/>
                </a:cubicBezTo>
                <a:lnTo>
                  <a:pt x="226273" y="124314"/>
                </a:lnTo>
                <a:lnTo>
                  <a:pt x="226325" y="105341"/>
                </a:lnTo>
                <a:cubicBezTo>
                  <a:pt x="182656" y="103717"/>
                  <a:pt x="143238" y="83593"/>
                  <a:pt x="131009" y="76727"/>
                </a:cubicBezTo>
                <a:close/>
                <a:moveTo>
                  <a:pt x="149012" y="11321"/>
                </a:moveTo>
                <a:cubicBezTo>
                  <a:pt x="126180" y="11321"/>
                  <a:pt x="108019" y="18186"/>
                  <a:pt x="95002" y="31760"/>
                </a:cubicBezTo>
                <a:cubicBezTo>
                  <a:pt x="73640" y="53981"/>
                  <a:pt x="71750" y="87994"/>
                  <a:pt x="71646" y="97218"/>
                </a:cubicBezTo>
                <a:cubicBezTo>
                  <a:pt x="81512" y="95385"/>
                  <a:pt x="102875" y="88886"/>
                  <a:pt x="126128" y="65668"/>
                </a:cubicBezTo>
                <a:lnTo>
                  <a:pt x="129276" y="62525"/>
                </a:lnTo>
                <a:lnTo>
                  <a:pt x="133109" y="64882"/>
                </a:lnTo>
                <a:cubicBezTo>
                  <a:pt x="133581" y="65145"/>
                  <a:pt x="177880" y="91977"/>
                  <a:pt x="226221" y="94022"/>
                </a:cubicBezTo>
                <a:cubicBezTo>
                  <a:pt x="225643" y="81705"/>
                  <a:pt x="222232" y="51780"/>
                  <a:pt x="202811" y="31655"/>
                </a:cubicBezTo>
                <a:cubicBezTo>
                  <a:pt x="189795" y="18186"/>
                  <a:pt x="171686" y="11321"/>
                  <a:pt x="149012" y="11321"/>
                </a:cubicBezTo>
                <a:close/>
                <a:moveTo>
                  <a:pt x="149012" y="0"/>
                </a:moveTo>
                <a:cubicBezTo>
                  <a:pt x="174941" y="0"/>
                  <a:pt x="195831" y="8019"/>
                  <a:pt x="211052" y="23846"/>
                </a:cubicBezTo>
                <a:cubicBezTo>
                  <a:pt x="238713" y="52619"/>
                  <a:pt x="237768" y="96695"/>
                  <a:pt x="237611" y="99892"/>
                </a:cubicBezTo>
                <a:lnTo>
                  <a:pt x="237611" y="113256"/>
                </a:lnTo>
                <a:cubicBezTo>
                  <a:pt x="251731" y="114828"/>
                  <a:pt x="260285" y="122375"/>
                  <a:pt x="260285" y="133695"/>
                </a:cubicBezTo>
                <a:cubicBezTo>
                  <a:pt x="260285" y="144859"/>
                  <a:pt x="248948" y="157018"/>
                  <a:pt x="235932" y="160687"/>
                </a:cubicBezTo>
                <a:cubicBezTo>
                  <a:pt x="230892" y="189459"/>
                  <a:pt x="215251" y="212938"/>
                  <a:pt x="192367" y="226041"/>
                </a:cubicBezTo>
                <a:lnTo>
                  <a:pt x="192367" y="244384"/>
                </a:lnTo>
                <a:cubicBezTo>
                  <a:pt x="198350" y="249992"/>
                  <a:pt x="210843" y="257434"/>
                  <a:pt x="218768" y="261836"/>
                </a:cubicBezTo>
                <a:lnTo>
                  <a:pt x="218768" y="248524"/>
                </a:lnTo>
                <a:lnTo>
                  <a:pt x="305530" y="248524"/>
                </a:lnTo>
                <a:lnTo>
                  <a:pt x="305530" y="357797"/>
                </a:lnTo>
                <a:lnTo>
                  <a:pt x="0" y="357797"/>
                </a:lnTo>
                <a:lnTo>
                  <a:pt x="0" y="333218"/>
                </a:lnTo>
                <a:cubicBezTo>
                  <a:pt x="52" y="331382"/>
                  <a:pt x="1627" y="287884"/>
                  <a:pt x="75109" y="264037"/>
                </a:cubicBezTo>
                <a:cubicBezTo>
                  <a:pt x="81881" y="260473"/>
                  <a:pt x="98466" y="251092"/>
                  <a:pt x="105604" y="244384"/>
                </a:cubicBezTo>
                <a:lnTo>
                  <a:pt x="105604" y="226093"/>
                </a:lnTo>
                <a:cubicBezTo>
                  <a:pt x="82720" y="212938"/>
                  <a:pt x="67079" y="189459"/>
                  <a:pt x="62093" y="160687"/>
                </a:cubicBezTo>
                <a:cubicBezTo>
                  <a:pt x="49075" y="157018"/>
                  <a:pt x="37738" y="144859"/>
                  <a:pt x="37738" y="133695"/>
                </a:cubicBezTo>
                <a:cubicBezTo>
                  <a:pt x="37738" y="122375"/>
                  <a:pt x="46241" y="114828"/>
                  <a:pt x="60361" y="113256"/>
                </a:cubicBezTo>
                <a:lnTo>
                  <a:pt x="60361" y="99892"/>
                </a:lnTo>
                <a:cubicBezTo>
                  <a:pt x="60255" y="96695"/>
                  <a:pt x="59206" y="52671"/>
                  <a:pt x="86813" y="23899"/>
                </a:cubicBezTo>
                <a:cubicBezTo>
                  <a:pt x="102088" y="8071"/>
                  <a:pt x="122978" y="0"/>
                  <a:pt x="14901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1201400" y="20320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728200" y="1536700"/>
            <a:ext cx="419100" cy="419100"/>
          </a:xfrm>
          <a:prstGeom prst="roundRect">
            <a:avLst>
              <a:gd name="adj" fmla="val 0"/>
            </a:avLst>
          </a:prstGeom>
          <a:solidFill>
            <a:srgbClr val="BEA1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BEA15E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347">
            <a:off x="10134599" y="17526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43700" y="15240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轻量化易部署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43700" y="18923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设备体积小、安装简便、成本可控，能够灵活适配社区药店、基层诊所等多种场景。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388600" y="37465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FAD04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FAD041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807700" y="4127500"/>
            <a:ext cx="290756" cy="357797"/>
          </a:xfrm>
          <a:custGeom>
            <a:avLst/>
            <a:gdLst/>
            <a:ahLst/>
            <a:cxnLst/>
            <a:rect l="l" t="t" r="r" b="b"/>
            <a:pathLst>
              <a:path w="290756" h="357797">
                <a:moveTo>
                  <a:pt x="145358" y="101766"/>
                </a:moveTo>
                <a:cubicBezTo>
                  <a:pt x="121425" y="101766"/>
                  <a:pt x="101954" y="121216"/>
                  <a:pt x="101954" y="145176"/>
                </a:cubicBezTo>
                <a:cubicBezTo>
                  <a:pt x="101954" y="169083"/>
                  <a:pt x="121425" y="188533"/>
                  <a:pt x="145358" y="188533"/>
                </a:cubicBezTo>
                <a:cubicBezTo>
                  <a:pt x="169288" y="188533"/>
                  <a:pt x="188760" y="169083"/>
                  <a:pt x="188760" y="145176"/>
                </a:cubicBezTo>
                <a:cubicBezTo>
                  <a:pt x="188760" y="121216"/>
                  <a:pt x="169288" y="101766"/>
                  <a:pt x="145358" y="101766"/>
                </a:cubicBezTo>
                <a:close/>
                <a:moveTo>
                  <a:pt x="145358" y="91176"/>
                </a:moveTo>
                <a:cubicBezTo>
                  <a:pt x="175167" y="91176"/>
                  <a:pt x="199414" y="115397"/>
                  <a:pt x="199414" y="145176"/>
                </a:cubicBezTo>
                <a:cubicBezTo>
                  <a:pt x="199414" y="174902"/>
                  <a:pt x="175167" y="199123"/>
                  <a:pt x="145358" y="199123"/>
                </a:cubicBezTo>
                <a:cubicBezTo>
                  <a:pt x="115547" y="199123"/>
                  <a:pt x="91300" y="174902"/>
                  <a:pt x="91300" y="145176"/>
                </a:cubicBezTo>
                <a:cubicBezTo>
                  <a:pt x="91300" y="115397"/>
                  <a:pt x="115547" y="91176"/>
                  <a:pt x="145358" y="91176"/>
                </a:cubicBezTo>
                <a:close/>
                <a:moveTo>
                  <a:pt x="145352" y="74380"/>
                </a:moveTo>
                <a:cubicBezTo>
                  <a:pt x="106294" y="74380"/>
                  <a:pt x="74482" y="106135"/>
                  <a:pt x="74482" y="145176"/>
                </a:cubicBezTo>
                <a:cubicBezTo>
                  <a:pt x="74482" y="184164"/>
                  <a:pt x="106294" y="215919"/>
                  <a:pt x="145352" y="215919"/>
                </a:cubicBezTo>
                <a:cubicBezTo>
                  <a:pt x="184461" y="215919"/>
                  <a:pt x="216221" y="184164"/>
                  <a:pt x="216221" y="145176"/>
                </a:cubicBezTo>
                <a:cubicBezTo>
                  <a:pt x="216221" y="106135"/>
                  <a:pt x="184461" y="74380"/>
                  <a:pt x="145352" y="74380"/>
                </a:cubicBezTo>
                <a:close/>
                <a:moveTo>
                  <a:pt x="145352" y="63795"/>
                </a:moveTo>
                <a:cubicBezTo>
                  <a:pt x="190341" y="63795"/>
                  <a:pt x="226879" y="100266"/>
                  <a:pt x="226879" y="145176"/>
                </a:cubicBezTo>
                <a:cubicBezTo>
                  <a:pt x="226879" y="190033"/>
                  <a:pt x="190341" y="226504"/>
                  <a:pt x="145352" y="226504"/>
                </a:cubicBezTo>
                <a:cubicBezTo>
                  <a:pt x="100415" y="226504"/>
                  <a:pt x="63877" y="190033"/>
                  <a:pt x="63877" y="145176"/>
                </a:cubicBezTo>
                <a:cubicBezTo>
                  <a:pt x="63877" y="100266"/>
                  <a:pt x="100415" y="63795"/>
                  <a:pt x="145352" y="63795"/>
                </a:cubicBezTo>
                <a:close/>
                <a:moveTo>
                  <a:pt x="145352" y="10639"/>
                </a:moveTo>
                <a:cubicBezTo>
                  <a:pt x="71076" y="10639"/>
                  <a:pt x="10657" y="70961"/>
                  <a:pt x="10657" y="145174"/>
                </a:cubicBezTo>
                <a:cubicBezTo>
                  <a:pt x="10657" y="207697"/>
                  <a:pt x="53647" y="260473"/>
                  <a:pt x="111704" y="275410"/>
                </a:cubicBezTo>
                <a:cubicBezTo>
                  <a:pt x="111862" y="275463"/>
                  <a:pt x="112019" y="275515"/>
                  <a:pt x="112177" y="275515"/>
                </a:cubicBezTo>
                <a:cubicBezTo>
                  <a:pt x="113016" y="275725"/>
                  <a:pt x="113857" y="275934"/>
                  <a:pt x="114748" y="276144"/>
                </a:cubicBezTo>
                <a:cubicBezTo>
                  <a:pt x="115221" y="276301"/>
                  <a:pt x="115747" y="276405"/>
                  <a:pt x="116219" y="276511"/>
                </a:cubicBezTo>
                <a:cubicBezTo>
                  <a:pt x="116743" y="276615"/>
                  <a:pt x="117268" y="276720"/>
                  <a:pt x="117846" y="276824"/>
                </a:cubicBezTo>
                <a:cubicBezTo>
                  <a:pt x="118422" y="276982"/>
                  <a:pt x="119000" y="277087"/>
                  <a:pt x="119578" y="277191"/>
                </a:cubicBezTo>
                <a:cubicBezTo>
                  <a:pt x="120051" y="277297"/>
                  <a:pt x="120471" y="277349"/>
                  <a:pt x="120943" y="277454"/>
                </a:cubicBezTo>
                <a:cubicBezTo>
                  <a:pt x="121573" y="277558"/>
                  <a:pt x="122202" y="277664"/>
                  <a:pt x="122780" y="277768"/>
                </a:cubicBezTo>
                <a:cubicBezTo>
                  <a:pt x="123252" y="277820"/>
                  <a:pt x="123673" y="277926"/>
                  <a:pt x="124093" y="277978"/>
                </a:cubicBezTo>
                <a:cubicBezTo>
                  <a:pt x="124723" y="278083"/>
                  <a:pt x="125353" y="278187"/>
                  <a:pt x="125981" y="278293"/>
                </a:cubicBezTo>
                <a:cubicBezTo>
                  <a:pt x="126402" y="278345"/>
                  <a:pt x="126874" y="278398"/>
                  <a:pt x="127295" y="278449"/>
                </a:cubicBezTo>
                <a:cubicBezTo>
                  <a:pt x="127925" y="278554"/>
                  <a:pt x="128554" y="278606"/>
                  <a:pt x="129132" y="278712"/>
                </a:cubicBezTo>
                <a:cubicBezTo>
                  <a:pt x="129605" y="278764"/>
                  <a:pt x="130076" y="278816"/>
                  <a:pt x="130548" y="278869"/>
                </a:cubicBezTo>
                <a:cubicBezTo>
                  <a:pt x="131126" y="278921"/>
                  <a:pt x="131756" y="278973"/>
                  <a:pt x="132334" y="279027"/>
                </a:cubicBezTo>
                <a:cubicBezTo>
                  <a:pt x="132859" y="279079"/>
                  <a:pt x="133384" y="279131"/>
                  <a:pt x="133855" y="279184"/>
                </a:cubicBezTo>
                <a:cubicBezTo>
                  <a:pt x="134433" y="279235"/>
                  <a:pt x="135011" y="279288"/>
                  <a:pt x="135536" y="279288"/>
                </a:cubicBezTo>
                <a:cubicBezTo>
                  <a:pt x="136114" y="279340"/>
                  <a:pt x="136691" y="279392"/>
                  <a:pt x="137268" y="279446"/>
                </a:cubicBezTo>
                <a:cubicBezTo>
                  <a:pt x="137792" y="279446"/>
                  <a:pt x="138265" y="279498"/>
                  <a:pt x="138791" y="279498"/>
                </a:cubicBezTo>
                <a:cubicBezTo>
                  <a:pt x="139473" y="279550"/>
                  <a:pt x="140155" y="279550"/>
                  <a:pt x="140837" y="279603"/>
                </a:cubicBezTo>
                <a:cubicBezTo>
                  <a:pt x="141257" y="279603"/>
                  <a:pt x="141677" y="279603"/>
                  <a:pt x="142044" y="279603"/>
                </a:cubicBezTo>
                <a:cubicBezTo>
                  <a:pt x="143147" y="279655"/>
                  <a:pt x="144249" y="279655"/>
                  <a:pt x="145352" y="279655"/>
                </a:cubicBezTo>
                <a:cubicBezTo>
                  <a:pt x="146454" y="279655"/>
                  <a:pt x="147556" y="279655"/>
                  <a:pt x="148659" y="279603"/>
                </a:cubicBezTo>
                <a:cubicBezTo>
                  <a:pt x="149079" y="279603"/>
                  <a:pt x="149499" y="279603"/>
                  <a:pt x="149918" y="279603"/>
                </a:cubicBezTo>
                <a:cubicBezTo>
                  <a:pt x="150602" y="279550"/>
                  <a:pt x="151284" y="279550"/>
                  <a:pt x="151966" y="279498"/>
                </a:cubicBezTo>
                <a:cubicBezTo>
                  <a:pt x="152438" y="279498"/>
                  <a:pt x="152963" y="279446"/>
                  <a:pt x="153488" y="279446"/>
                </a:cubicBezTo>
                <a:cubicBezTo>
                  <a:pt x="154066" y="279392"/>
                  <a:pt x="154591" y="279340"/>
                  <a:pt x="155167" y="279288"/>
                </a:cubicBezTo>
                <a:cubicBezTo>
                  <a:pt x="155745" y="279288"/>
                  <a:pt x="156323" y="279235"/>
                  <a:pt x="156848" y="279184"/>
                </a:cubicBezTo>
                <a:cubicBezTo>
                  <a:pt x="157372" y="279131"/>
                  <a:pt x="157898" y="279079"/>
                  <a:pt x="158370" y="279027"/>
                </a:cubicBezTo>
                <a:cubicBezTo>
                  <a:pt x="159000" y="278973"/>
                  <a:pt x="159577" y="278921"/>
                  <a:pt x="160155" y="278869"/>
                </a:cubicBezTo>
                <a:cubicBezTo>
                  <a:pt x="160627" y="278816"/>
                  <a:pt x="161100" y="278764"/>
                  <a:pt x="161572" y="278712"/>
                </a:cubicBezTo>
                <a:cubicBezTo>
                  <a:pt x="162202" y="278606"/>
                  <a:pt x="162832" y="278554"/>
                  <a:pt x="163410" y="278449"/>
                </a:cubicBezTo>
                <a:cubicBezTo>
                  <a:pt x="163882" y="278398"/>
                  <a:pt x="164301" y="278345"/>
                  <a:pt x="164774" y="278293"/>
                </a:cubicBezTo>
                <a:cubicBezTo>
                  <a:pt x="165404" y="278187"/>
                  <a:pt x="165981" y="278083"/>
                  <a:pt x="166611" y="277978"/>
                </a:cubicBezTo>
                <a:cubicBezTo>
                  <a:pt x="167084" y="277926"/>
                  <a:pt x="167504" y="277820"/>
                  <a:pt x="167923" y="277768"/>
                </a:cubicBezTo>
                <a:cubicBezTo>
                  <a:pt x="168553" y="277664"/>
                  <a:pt x="169183" y="277558"/>
                  <a:pt x="169761" y="277454"/>
                </a:cubicBezTo>
                <a:cubicBezTo>
                  <a:pt x="170233" y="277349"/>
                  <a:pt x="170706" y="277297"/>
                  <a:pt x="171178" y="277191"/>
                </a:cubicBezTo>
                <a:cubicBezTo>
                  <a:pt x="171756" y="277087"/>
                  <a:pt x="172333" y="276982"/>
                  <a:pt x="172910" y="276824"/>
                </a:cubicBezTo>
                <a:cubicBezTo>
                  <a:pt x="173435" y="276720"/>
                  <a:pt x="173960" y="276615"/>
                  <a:pt x="174537" y="276511"/>
                </a:cubicBezTo>
                <a:cubicBezTo>
                  <a:pt x="175010" y="276405"/>
                  <a:pt x="175482" y="276301"/>
                  <a:pt x="176008" y="276144"/>
                </a:cubicBezTo>
                <a:cubicBezTo>
                  <a:pt x="176848" y="275934"/>
                  <a:pt x="177739" y="275725"/>
                  <a:pt x="178580" y="275515"/>
                </a:cubicBezTo>
                <a:cubicBezTo>
                  <a:pt x="178737" y="275515"/>
                  <a:pt x="178895" y="275463"/>
                  <a:pt x="179052" y="275410"/>
                </a:cubicBezTo>
                <a:cubicBezTo>
                  <a:pt x="237109" y="260473"/>
                  <a:pt x="280100" y="207697"/>
                  <a:pt x="280100" y="145174"/>
                </a:cubicBezTo>
                <a:cubicBezTo>
                  <a:pt x="280100" y="70961"/>
                  <a:pt x="219681" y="10639"/>
                  <a:pt x="145352" y="10639"/>
                </a:cubicBezTo>
                <a:close/>
                <a:moveTo>
                  <a:pt x="145352" y="0"/>
                </a:moveTo>
                <a:cubicBezTo>
                  <a:pt x="225508" y="0"/>
                  <a:pt x="290756" y="65093"/>
                  <a:pt x="290756" y="145174"/>
                </a:cubicBezTo>
                <a:cubicBezTo>
                  <a:pt x="290756" y="185685"/>
                  <a:pt x="274011" y="222424"/>
                  <a:pt x="247082" y="248785"/>
                </a:cubicBezTo>
                <a:cubicBezTo>
                  <a:pt x="274903" y="275986"/>
                  <a:pt x="290756" y="313459"/>
                  <a:pt x="290756" y="352452"/>
                </a:cubicBezTo>
                <a:lnTo>
                  <a:pt x="290756" y="357797"/>
                </a:lnTo>
                <a:lnTo>
                  <a:pt x="90759" y="357797"/>
                </a:lnTo>
                <a:lnTo>
                  <a:pt x="90759" y="347158"/>
                </a:lnTo>
                <a:lnTo>
                  <a:pt x="279996" y="347158"/>
                </a:lnTo>
                <a:cubicBezTo>
                  <a:pt x="279837" y="343595"/>
                  <a:pt x="279575" y="340031"/>
                  <a:pt x="279155" y="336518"/>
                </a:cubicBezTo>
                <a:lnTo>
                  <a:pt x="126244" y="336518"/>
                </a:lnTo>
                <a:lnTo>
                  <a:pt x="126244" y="325879"/>
                </a:lnTo>
                <a:lnTo>
                  <a:pt x="277423" y="325879"/>
                </a:lnTo>
                <a:cubicBezTo>
                  <a:pt x="272068" y="299466"/>
                  <a:pt x="258841" y="274991"/>
                  <a:pt x="239260" y="255966"/>
                </a:cubicBezTo>
                <a:cubicBezTo>
                  <a:pt x="224248" y="268649"/>
                  <a:pt x="207030" y="278030"/>
                  <a:pt x="188553" y="283742"/>
                </a:cubicBezTo>
                <a:cubicBezTo>
                  <a:pt x="187504" y="284109"/>
                  <a:pt x="186454" y="284372"/>
                  <a:pt x="185403" y="284686"/>
                </a:cubicBezTo>
                <a:cubicBezTo>
                  <a:pt x="185141" y="284739"/>
                  <a:pt x="184931" y="284843"/>
                  <a:pt x="184668" y="284897"/>
                </a:cubicBezTo>
                <a:cubicBezTo>
                  <a:pt x="183882" y="285106"/>
                  <a:pt x="183041" y="285368"/>
                  <a:pt x="182254" y="285577"/>
                </a:cubicBezTo>
                <a:cubicBezTo>
                  <a:pt x="181834" y="285683"/>
                  <a:pt x="181466" y="285735"/>
                  <a:pt x="181099" y="285839"/>
                </a:cubicBezTo>
                <a:cubicBezTo>
                  <a:pt x="180417" y="286050"/>
                  <a:pt x="179734" y="286206"/>
                  <a:pt x="179052" y="286363"/>
                </a:cubicBezTo>
                <a:cubicBezTo>
                  <a:pt x="178580" y="286469"/>
                  <a:pt x="178107" y="286573"/>
                  <a:pt x="177635" y="286678"/>
                </a:cubicBezTo>
                <a:cubicBezTo>
                  <a:pt x="177057" y="286836"/>
                  <a:pt x="176427" y="286940"/>
                  <a:pt x="175797" y="287097"/>
                </a:cubicBezTo>
                <a:cubicBezTo>
                  <a:pt x="175273" y="287202"/>
                  <a:pt x="174800" y="287307"/>
                  <a:pt x="174274" y="287411"/>
                </a:cubicBezTo>
                <a:cubicBezTo>
                  <a:pt x="173698" y="287517"/>
                  <a:pt x="173172" y="287621"/>
                  <a:pt x="172596" y="287726"/>
                </a:cubicBezTo>
                <a:cubicBezTo>
                  <a:pt x="171178" y="287988"/>
                  <a:pt x="169761" y="288249"/>
                  <a:pt x="168292" y="288460"/>
                </a:cubicBezTo>
                <a:cubicBezTo>
                  <a:pt x="168134" y="288512"/>
                  <a:pt x="167923" y="288564"/>
                  <a:pt x="167766" y="288564"/>
                </a:cubicBezTo>
                <a:cubicBezTo>
                  <a:pt x="167136" y="288670"/>
                  <a:pt x="166454" y="288774"/>
                  <a:pt x="165824" y="288827"/>
                </a:cubicBezTo>
                <a:cubicBezTo>
                  <a:pt x="165351" y="288931"/>
                  <a:pt x="164827" y="288983"/>
                  <a:pt x="164355" y="289035"/>
                </a:cubicBezTo>
                <a:cubicBezTo>
                  <a:pt x="163725" y="289141"/>
                  <a:pt x="163147" y="289193"/>
                  <a:pt x="162517" y="289298"/>
                </a:cubicBezTo>
                <a:cubicBezTo>
                  <a:pt x="161992" y="289350"/>
                  <a:pt x="161467" y="289403"/>
                  <a:pt x="160942" y="289456"/>
                </a:cubicBezTo>
                <a:cubicBezTo>
                  <a:pt x="160312" y="289508"/>
                  <a:pt x="159734" y="289560"/>
                  <a:pt x="159158" y="289613"/>
                </a:cubicBezTo>
                <a:cubicBezTo>
                  <a:pt x="158580" y="289665"/>
                  <a:pt x="158003" y="289717"/>
                  <a:pt x="157425" y="289771"/>
                </a:cubicBezTo>
                <a:cubicBezTo>
                  <a:pt x="156900" y="289822"/>
                  <a:pt x="156323" y="289875"/>
                  <a:pt x="155745" y="289927"/>
                </a:cubicBezTo>
                <a:cubicBezTo>
                  <a:pt x="155115" y="289979"/>
                  <a:pt x="154485" y="289979"/>
                  <a:pt x="153855" y="290032"/>
                </a:cubicBezTo>
                <a:cubicBezTo>
                  <a:pt x="153331" y="290085"/>
                  <a:pt x="152858" y="290085"/>
                  <a:pt x="152333" y="290137"/>
                </a:cubicBezTo>
                <a:cubicBezTo>
                  <a:pt x="151599" y="290137"/>
                  <a:pt x="150863" y="290189"/>
                  <a:pt x="150129" y="290189"/>
                </a:cubicBezTo>
                <a:cubicBezTo>
                  <a:pt x="149709" y="290242"/>
                  <a:pt x="149288" y="290242"/>
                  <a:pt x="148868" y="290242"/>
                </a:cubicBezTo>
                <a:cubicBezTo>
                  <a:pt x="147714" y="290294"/>
                  <a:pt x="146559" y="290294"/>
                  <a:pt x="145352" y="290294"/>
                </a:cubicBezTo>
                <a:cubicBezTo>
                  <a:pt x="144197" y="290294"/>
                  <a:pt x="143043" y="290294"/>
                  <a:pt x="141887" y="290242"/>
                </a:cubicBezTo>
                <a:cubicBezTo>
                  <a:pt x="141468" y="290242"/>
                  <a:pt x="141047" y="290242"/>
                  <a:pt x="140627" y="290189"/>
                </a:cubicBezTo>
                <a:cubicBezTo>
                  <a:pt x="139893" y="290189"/>
                  <a:pt x="139158" y="290137"/>
                  <a:pt x="138422" y="290137"/>
                </a:cubicBezTo>
                <a:cubicBezTo>
                  <a:pt x="137898" y="290085"/>
                  <a:pt x="137373" y="290085"/>
                  <a:pt x="136901" y="290032"/>
                </a:cubicBezTo>
                <a:cubicBezTo>
                  <a:pt x="136218" y="289979"/>
                  <a:pt x="135588" y="289979"/>
                  <a:pt x="134958" y="289927"/>
                </a:cubicBezTo>
                <a:cubicBezTo>
                  <a:pt x="134433" y="289875"/>
                  <a:pt x="133855" y="289822"/>
                  <a:pt x="133331" y="289771"/>
                </a:cubicBezTo>
                <a:cubicBezTo>
                  <a:pt x="132754" y="289717"/>
                  <a:pt x="132177" y="289665"/>
                  <a:pt x="131599" y="289613"/>
                </a:cubicBezTo>
                <a:cubicBezTo>
                  <a:pt x="130969" y="289560"/>
                  <a:pt x="130391" y="289508"/>
                  <a:pt x="129814" y="289456"/>
                </a:cubicBezTo>
                <a:cubicBezTo>
                  <a:pt x="129290" y="289403"/>
                  <a:pt x="128764" y="289350"/>
                  <a:pt x="128240" y="289298"/>
                </a:cubicBezTo>
                <a:cubicBezTo>
                  <a:pt x="127610" y="289193"/>
                  <a:pt x="126980" y="289141"/>
                  <a:pt x="126402" y="289035"/>
                </a:cubicBezTo>
                <a:cubicBezTo>
                  <a:pt x="125877" y="288983"/>
                  <a:pt x="125405" y="288931"/>
                  <a:pt x="124932" y="288827"/>
                </a:cubicBezTo>
                <a:cubicBezTo>
                  <a:pt x="124250" y="288774"/>
                  <a:pt x="123619" y="288670"/>
                  <a:pt x="122989" y="288564"/>
                </a:cubicBezTo>
                <a:cubicBezTo>
                  <a:pt x="122780" y="288564"/>
                  <a:pt x="122622" y="288512"/>
                  <a:pt x="122413" y="288460"/>
                </a:cubicBezTo>
                <a:cubicBezTo>
                  <a:pt x="120995" y="288249"/>
                  <a:pt x="119578" y="287988"/>
                  <a:pt x="118109" y="287726"/>
                </a:cubicBezTo>
                <a:cubicBezTo>
                  <a:pt x="117583" y="287621"/>
                  <a:pt x="117006" y="287517"/>
                  <a:pt x="116481" y="287411"/>
                </a:cubicBezTo>
                <a:cubicBezTo>
                  <a:pt x="115956" y="287307"/>
                  <a:pt x="115430" y="287202"/>
                  <a:pt x="114906" y="287097"/>
                </a:cubicBezTo>
                <a:cubicBezTo>
                  <a:pt x="114329" y="286940"/>
                  <a:pt x="113699" y="286836"/>
                  <a:pt x="113069" y="286678"/>
                </a:cubicBezTo>
                <a:cubicBezTo>
                  <a:pt x="112597" y="286573"/>
                  <a:pt x="112177" y="286469"/>
                  <a:pt x="111704" y="286363"/>
                </a:cubicBezTo>
                <a:cubicBezTo>
                  <a:pt x="111021" y="286206"/>
                  <a:pt x="110339" y="286050"/>
                  <a:pt x="109605" y="285839"/>
                </a:cubicBezTo>
                <a:cubicBezTo>
                  <a:pt x="109237" y="285735"/>
                  <a:pt x="108869" y="285683"/>
                  <a:pt x="108502" y="285577"/>
                </a:cubicBezTo>
                <a:cubicBezTo>
                  <a:pt x="107663" y="285368"/>
                  <a:pt x="106874" y="285106"/>
                  <a:pt x="106035" y="284897"/>
                </a:cubicBezTo>
                <a:cubicBezTo>
                  <a:pt x="105825" y="284843"/>
                  <a:pt x="105562" y="284739"/>
                  <a:pt x="105353" y="284686"/>
                </a:cubicBezTo>
                <a:cubicBezTo>
                  <a:pt x="104303" y="284372"/>
                  <a:pt x="103254" y="284109"/>
                  <a:pt x="102203" y="283742"/>
                </a:cubicBezTo>
                <a:cubicBezTo>
                  <a:pt x="83726" y="278030"/>
                  <a:pt x="66455" y="268649"/>
                  <a:pt x="51495" y="255966"/>
                </a:cubicBezTo>
                <a:cubicBezTo>
                  <a:pt x="26718" y="280022"/>
                  <a:pt x="12126" y="312725"/>
                  <a:pt x="10761" y="347158"/>
                </a:cubicBezTo>
                <a:lnTo>
                  <a:pt x="76534" y="347158"/>
                </a:lnTo>
                <a:lnTo>
                  <a:pt x="76534" y="357797"/>
                </a:lnTo>
                <a:lnTo>
                  <a:pt x="0" y="357797"/>
                </a:lnTo>
                <a:lnTo>
                  <a:pt x="0" y="352452"/>
                </a:lnTo>
                <a:cubicBezTo>
                  <a:pt x="0" y="313459"/>
                  <a:pt x="15853" y="275986"/>
                  <a:pt x="43674" y="248785"/>
                </a:cubicBezTo>
                <a:cubicBezTo>
                  <a:pt x="16745" y="222424"/>
                  <a:pt x="0" y="185685"/>
                  <a:pt x="0" y="145174"/>
                </a:cubicBezTo>
                <a:cubicBezTo>
                  <a:pt x="0" y="65093"/>
                  <a:pt x="65195" y="0"/>
                  <a:pt x="14535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201400" y="46482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28200" y="4152900"/>
            <a:ext cx="419100" cy="419100"/>
          </a:xfrm>
          <a:prstGeom prst="roundRect">
            <a:avLst>
              <a:gd name="adj" fmla="val 0"/>
            </a:avLst>
          </a:prstGeom>
          <a:solidFill>
            <a:srgbClr val="FAD04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FAD041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347">
            <a:off x="10134599" y="43688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743700" y="41275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合规性强风险低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43700" y="44958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AI药师严格限定在健康咨询与OTC推荐范围，不涉及诊断行为，并配合规则兜底机制，确保使用安全。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四大独特优势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产品介绍与数据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技术架构与性能指标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 rot="-5400000">
            <a:off x="254000" y="2540000"/>
            <a:ext cx="4508500" cy="2232937"/>
          </a:xfrm>
          <a:custGeom>
            <a:avLst/>
            <a:gdLst/>
            <a:ahLst/>
            <a:cxnLst/>
            <a:rect l="l" t="t" r="r" b="b"/>
            <a:pathLst>
              <a:path w="4508500" h="2232937">
                <a:moveTo>
                  <a:pt x="2254250" y="0"/>
                </a:moveTo>
                <a:cubicBezTo>
                  <a:pt x="3422012" y="0"/>
                  <a:pt x="4382491" y="887493"/>
                  <a:pt x="4497988" y="2024783"/>
                </a:cubicBezTo>
                <a:lnTo>
                  <a:pt x="4508500" y="2232937"/>
                </a:lnTo>
                <a:lnTo>
                  <a:pt x="0" y="2232937"/>
                </a:lnTo>
                <a:lnTo>
                  <a:pt x="10512" y="2024783"/>
                </a:lnTo>
                <a:cubicBezTo>
                  <a:pt x="126009" y="887493"/>
                  <a:pt x="1086488" y="0"/>
                  <a:pt x="2254250" y="0"/>
                </a:cubicBezTo>
                <a:close/>
              </a:path>
            </a:pathLst>
          </a:custGeom>
          <a:solidFill>
            <a:srgbClr val="8080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24100" y="2349500"/>
            <a:ext cx="2616200" cy="261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384800" y="1409700"/>
            <a:ext cx="539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软硬件一体化核心架构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21400" y="27559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硬件层：高精度终端设备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21400" y="31623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搭载一体化6轴桌面级高精度机械臂，集成高清深度视觉相机与二维码扫描模块，配合高性能嵌入式控制主板，为业务场景提供稳定可靠的物理执行终端。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27940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626583" y="2946668"/>
            <a:ext cx="213247" cy="233752"/>
          </a:xfrm>
          <a:custGeom>
            <a:avLst/>
            <a:gdLst/>
            <a:ahLst/>
            <a:cxnLst/>
            <a:rect l="l" t="t" r="r" b="b"/>
            <a:pathLst>
              <a:path w="213247" h="233752">
                <a:moveTo>
                  <a:pt x="106622" y="0"/>
                </a:moveTo>
                <a:cubicBezTo>
                  <a:pt x="165511" y="0"/>
                  <a:pt x="213247" y="47734"/>
                  <a:pt x="213247" y="106624"/>
                </a:cubicBezTo>
                <a:cubicBezTo>
                  <a:pt x="213247" y="154235"/>
                  <a:pt x="182039" y="194588"/>
                  <a:pt x="138938" y="208286"/>
                </a:cubicBezTo>
                <a:lnTo>
                  <a:pt x="148903" y="225551"/>
                </a:lnTo>
                <a:lnTo>
                  <a:pt x="180439" y="225551"/>
                </a:lnTo>
                <a:lnTo>
                  <a:pt x="180439" y="233752"/>
                </a:lnTo>
                <a:lnTo>
                  <a:pt x="32806" y="233752"/>
                </a:lnTo>
                <a:lnTo>
                  <a:pt x="32806" y="225551"/>
                </a:lnTo>
                <a:lnTo>
                  <a:pt x="64343" y="225551"/>
                </a:lnTo>
                <a:lnTo>
                  <a:pt x="74307" y="208286"/>
                </a:lnTo>
                <a:cubicBezTo>
                  <a:pt x="31207" y="194588"/>
                  <a:pt x="0" y="154235"/>
                  <a:pt x="0" y="106624"/>
                </a:cubicBezTo>
                <a:cubicBezTo>
                  <a:pt x="0" y="47734"/>
                  <a:pt x="47734" y="0"/>
                  <a:pt x="106622" y="0"/>
                </a:cubicBezTo>
                <a:close/>
                <a:moveTo>
                  <a:pt x="82509" y="210500"/>
                </a:moveTo>
                <a:lnTo>
                  <a:pt x="73816" y="225551"/>
                </a:lnTo>
                <a:lnTo>
                  <a:pt x="139430" y="225551"/>
                </a:lnTo>
                <a:lnTo>
                  <a:pt x="130736" y="210500"/>
                </a:lnTo>
                <a:cubicBezTo>
                  <a:pt x="122985" y="212305"/>
                  <a:pt x="114907" y="213248"/>
                  <a:pt x="106622" y="213248"/>
                </a:cubicBezTo>
                <a:cubicBezTo>
                  <a:pt x="98340" y="213248"/>
                  <a:pt x="90260" y="212305"/>
                  <a:pt x="82509" y="210500"/>
                </a:cubicBezTo>
                <a:close/>
                <a:moveTo>
                  <a:pt x="106622" y="61514"/>
                </a:moveTo>
                <a:cubicBezTo>
                  <a:pt x="81690" y="61514"/>
                  <a:pt x="61513" y="81690"/>
                  <a:pt x="61513" y="106624"/>
                </a:cubicBezTo>
                <a:cubicBezTo>
                  <a:pt x="61513" y="131557"/>
                  <a:pt x="81690" y="151733"/>
                  <a:pt x="106622" y="151733"/>
                </a:cubicBezTo>
                <a:cubicBezTo>
                  <a:pt x="131556" y="151733"/>
                  <a:pt x="151733" y="131557"/>
                  <a:pt x="151733" y="106624"/>
                </a:cubicBezTo>
                <a:cubicBezTo>
                  <a:pt x="151733" y="81690"/>
                  <a:pt x="131556" y="61514"/>
                  <a:pt x="106622" y="61514"/>
                </a:cubicBezTo>
                <a:close/>
                <a:moveTo>
                  <a:pt x="157885" y="49210"/>
                </a:moveTo>
                <a:cubicBezTo>
                  <a:pt x="154480" y="49210"/>
                  <a:pt x="151733" y="51958"/>
                  <a:pt x="151733" y="55362"/>
                </a:cubicBezTo>
                <a:cubicBezTo>
                  <a:pt x="151733" y="58765"/>
                  <a:pt x="154480" y="61514"/>
                  <a:pt x="157885" y="61514"/>
                </a:cubicBezTo>
                <a:cubicBezTo>
                  <a:pt x="161287" y="61514"/>
                  <a:pt x="164035" y="58765"/>
                  <a:pt x="164035" y="55362"/>
                </a:cubicBezTo>
                <a:cubicBezTo>
                  <a:pt x="164035" y="51958"/>
                  <a:pt x="161287" y="49210"/>
                  <a:pt x="157885" y="4921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08700" y="50673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服务层：全流程技术保障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08700" y="54737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提供从现场部署、系统联调、人员操作培训到日常售后维护的全周期支持，支持功能定制化开发，确保智慧药房系统长期高效稳定运行。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5092700"/>
            <a:ext cx="533400" cy="533400"/>
          </a:xfrm>
          <a:prstGeom prst="ellipse">
            <a:avLst/>
          </a:prstGeom>
          <a:gradFill rotWithShape="0">
            <a:gsLst>
              <a:gs pos="0">
                <a:srgbClr val="69BB84">
                  <a:alpha val="100000"/>
                </a:srgbClr>
              </a:gs>
              <a:gs pos="6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613851" y="5270782"/>
            <a:ext cx="233752" cy="186136"/>
          </a:xfrm>
          <a:custGeom>
            <a:avLst/>
            <a:gdLst/>
            <a:ahLst/>
            <a:cxnLst/>
            <a:rect l="l" t="t" r="r" b="b"/>
            <a:pathLst>
              <a:path w="233752" h="186136">
                <a:moveTo>
                  <a:pt x="220766" y="0"/>
                </a:moveTo>
                <a:cubicBezTo>
                  <a:pt x="227952" y="0"/>
                  <a:pt x="233752" y="5801"/>
                  <a:pt x="233752" y="12987"/>
                </a:cubicBezTo>
                <a:lnTo>
                  <a:pt x="233752" y="147178"/>
                </a:lnTo>
                <a:cubicBezTo>
                  <a:pt x="233752" y="154363"/>
                  <a:pt x="227952" y="160163"/>
                  <a:pt x="220766" y="160163"/>
                </a:cubicBezTo>
                <a:lnTo>
                  <a:pt x="86878" y="160163"/>
                </a:lnTo>
                <a:lnTo>
                  <a:pt x="51989" y="186136"/>
                </a:lnTo>
                <a:lnTo>
                  <a:pt x="51989" y="160163"/>
                </a:lnTo>
                <a:lnTo>
                  <a:pt x="12986" y="160163"/>
                </a:lnTo>
                <a:cubicBezTo>
                  <a:pt x="5800" y="160163"/>
                  <a:pt x="0" y="154363"/>
                  <a:pt x="0" y="147178"/>
                </a:cubicBezTo>
                <a:lnTo>
                  <a:pt x="0" y="12987"/>
                </a:lnTo>
                <a:cubicBezTo>
                  <a:pt x="0" y="5801"/>
                  <a:pt x="5800" y="0"/>
                  <a:pt x="12986" y="0"/>
                </a:cubicBezTo>
                <a:lnTo>
                  <a:pt x="220766" y="0"/>
                </a:lnTo>
                <a:close/>
                <a:moveTo>
                  <a:pt x="56274" y="64931"/>
                </a:moveTo>
                <a:cubicBezTo>
                  <a:pt x="47919" y="64931"/>
                  <a:pt x="41124" y="71727"/>
                  <a:pt x="41124" y="80082"/>
                </a:cubicBezTo>
                <a:cubicBezTo>
                  <a:pt x="41124" y="88436"/>
                  <a:pt x="47919" y="95232"/>
                  <a:pt x="56274" y="95232"/>
                </a:cubicBezTo>
                <a:cubicBezTo>
                  <a:pt x="64628" y="95232"/>
                  <a:pt x="71425" y="88436"/>
                  <a:pt x="71425" y="80082"/>
                </a:cubicBezTo>
                <a:cubicBezTo>
                  <a:pt x="71425" y="71727"/>
                  <a:pt x="64628" y="64931"/>
                  <a:pt x="56274" y="64931"/>
                </a:cubicBezTo>
                <a:close/>
                <a:moveTo>
                  <a:pt x="116877" y="64931"/>
                </a:moveTo>
                <a:cubicBezTo>
                  <a:pt x="108521" y="64931"/>
                  <a:pt x="101726" y="71727"/>
                  <a:pt x="101726" y="80082"/>
                </a:cubicBezTo>
                <a:cubicBezTo>
                  <a:pt x="101726" y="88436"/>
                  <a:pt x="108521" y="95232"/>
                  <a:pt x="116877" y="95232"/>
                </a:cubicBezTo>
                <a:cubicBezTo>
                  <a:pt x="125231" y="95232"/>
                  <a:pt x="132028" y="88436"/>
                  <a:pt x="132028" y="80082"/>
                </a:cubicBezTo>
                <a:cubicBezTo>
                  <a:pt x="132028" y="71727"/>
                  <a:pt x="125231" y="64931"/>
                  <a:pt x="116877" y="64931"/>
                </a:cubicBezTo>
                <a:close/>
                <a:moveTo>
                  <a:pt x="177479" y="64931"/>
                </a:moveTo>
                <a:cubicBezTo>
                  <a:pt x="169124" y="64931"/>
                  <a:pt x="162329" y="71727"/>
                  <a:pt x="162329" y="80082"/>
                </a:cubicBezTo>
                <a:cubicBezTo>
                  <a:pt x="162329" y="88436"/>
                  <a:pt x="169124" y="95232"/>
                  <a:pt x="177479" y="95232"/>
                </a:cubicBezTo>
                <a:cubicBezTo>
                  <a:pt x="185834" y="95232"/>
                  <a:pt x="192630" y="88436"/>
                  <a:pt x="192630" y="80082"/>
                </a:cubicBezTo>
                <a:cubicBezTo>
                  <a:pt x="192630" y="71727"/>
                  <a:pt x="185834" y="64931"/>
                  <a:pt x="177479" y="6493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461000" y="39497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5613226" y="4127776"/>
            <a:ext cx="234539" cy="194602"/>
          </a:xfrm>
          <a:custGeom>
            <a:avLst/>
            <a:gdLst/>
            <a:ahLst/>
            <a:cxnLst/>
            <a:rect l="l" t="t" r="r" b="b"/>
            <a:pathLst>
              <a:path w="234539" h="194602">
                <a:moveTo>
                  <a:pt x="214951" y="59226"/>
                </a:moveTo>
                <a:cubicBezTo>
                  <a:pt x="225782" y="59226"/>
                  <a:pt x="234539" y="67984"/>
                  <a:pt x="234539" y="78813"/>
                </a:cubicBezTo>
                <a:cubicBezTo>
                  <a:pt x="234539" y="79321"/>
                  <a:pt x="234539" y="79829"/>
                  <a:pt x="234497" y="80337"/>
                </a:cubicBezTo>
                <a:lnTo>
                  <a:pt x="228573" y="157501"/>
                </a:lnTo>
                <a:cubicBezTo>
                  <a:pt x="228067" y="164100"/>
                  <a:pt x="222566" y="169219"/>
                  <a:pt x="215924" y="169219"/>
                </a:cubicBezTo>
                <a:lnTo>
                  <a:pt x="202260" y="169219"/>
                </a:lnTo>
                <a:lnTo>
                  <a:pt x="202260" y="194602"/>
                </a:lnTo>
                <a:lnTo>
                  <a:pt x="193798" y="194602"/>
                </a:lnTo>
                <a:lnTo>
                  <a:pt x="193798" y="169219"/>
                </a:lnTo>
                <a:lnTo>
                  <a:pt x="41501" y="169219"/>
                </a:lnTo>
                <a:lnTo>
                  <a:pt x="41501" y="194602"/>
                </a:lnTo>
                <a:lnTo>
                  <a:pt x="33040" y="194602"/>
                </a:lnTo>
                <a:lnTo>
                  <a:pt x="33040" y="169219"/>
                </a:lnTo>
                <a:lnTo>
                  <a:pt x="19418" y="169219"/>
                </a:lnTo>
                <a:cubicBezTo>
                  <a:pt x="12776" y="169219"/>
                  <a:pt x="7276" y="164100"/>
                  <a:pt x="6769" y="157501"/>
                </a:cubicBezTo>
                <a:lnTo>
                  <a:pt x="846" y="80337"/>
                </a:lnTo>
                <a:cubicBezTo>
                  <a:pt x="0" y="69549"/>
                  <a:pt x="8080" y="60115"/>
                  <a:pt x="18867" y="59311"/>
                </a:cubicBezTo>
                <a:cubicBezTo>
                  <a:pt x="19375" y="59269"/>
                  <a:pt x="19883" y="59269"/>
                  <a:pt x="20391" y="59269"/>
                </a:cubicBezTo>
                <a:cubicBezTo>
                  <a:pt x="32659" y="59269"/>
                  <a:pt x="43193" y="67984"/>
                  <a:pt x="45436" y="80040"/>
                </a:cubicBezTo>
                <a:lnTo>
                  <a:pt x="54192" y="126914"/>
                </a:lnTo>
                <a:lnTo>
                  <a:pt x="181107" y="126914"/>
                </a:lnTo>
                <a:lnTo>
                  <a:pt x="189907" y="79998"/>
                </a:lnTo>
                <a:cubicBezTo>
                  <a:pt x="192148" y="67941"/>
                  <a:pt x="202683" y="59226"/>
                  <a:pt x="214951" y="59226"/>
                </a:cubicBezTo>
                <a:close/>
                <a:moveTo>
                  <a:pt x="185337" y="0"/>
                </a:moveTo>
                <a:cubicBezTo>
                  <a:pt x="201710" y="0"/>
                  <a:pt x="214951" y="13241"/>
                  <a:pt x="214951" y="29613"/>
                </a:cubicBezTo>
                <a:lnTo>
                  <a:pt x="214951" y="50977"/>
                </a:lnTo>
                <a:cubicBezTo>
                  <a:pt x="213893" y="50850"/>
                  <a:pt x="212837" y="50765"/>
                  <a:pt x="211779" y="50765"/>
                </a:cubicBezTo>
                <a:cubicBezTo>
                  <a:pt x="198030" y="50765"/>
                  <a:pt x="186183" y="60327"/>
                  <a:pt x="183180" y="73652"/>
                </a:cubicBezTo>
                <a:lnTo>
                  <a:pt x="182969" y="74668"/>
                </a:lnTo>
                <a:lnTo>
                  <a:pt x="174762" y="118454"/>
                </a:lnTo>
                <a:lnTo>
                  <a:pt x="60538" y="118454"/>
                </a:lnTo>
                <a:lnTo>
                  <a:pt x="52332" y="74668"/>
                </a:lnTo>
                <a:cubicBezTo>
                  <a:pt x="49751" y="60792"/>
                  <a:pt x="37609" y="50765"/>
                  <a:pt x="23522" y="50765"/>
                </a:cubicBezTo>
                <a:lnTo>
                  <a:pt x="24580" y="29613"/>
                </a:lnTo>
                <a:cubicBezTo>
                  <a:pt x="24580" y="13241"/>
                  <a:pt x="37821" y="0"/>
                  <a:pt x="54192" y="0"/>
                </a:cubicBezTo>
                <a:lnTo>
                  <a:pt x="185337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121400" y="39116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软件层：开源智能操作系统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21400" y="43180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基于ROS Noetic机器人操作系统开发，融合OpenCV与MoveIt等主流开源框架，深度适配智慧药房管理业务，实现任务的智能规划与精准执行。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产品整体架构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619500" y="16637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68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10800000" flipV="1">
            <a:off x="660400" y="14605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多模态视觉融合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rot="10800000" flipV="1">
            <a:off x="660400" y="1828800"/>
            <a:ext cx="28194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融合条码识别、OCR文字识别与YOLOv8视觉定位技术，突破单一识别局限，实现对各类药品包装的精准特征提取与空间定位，为自动化作业筑牢视觉感知基础。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619500" y="51562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E8E6B7">
                  <a:alpha val="100000"/>
                </a:srgbClr>
              </a:gs>
              <a:gs pos="69000">
                <a:srgbClr val="D9D587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10800000" flipV="1">
            <a:off x="660400" y="49403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柔性自适应抓取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10800000" flipV="1">
            <a:off x="660400" y="5308600"/>
            <a:ext cx="28194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基于RGB-D深度相机实时生成点云，在线智能预测最优抓取位姿，无需提前构建药品3D模型，适配多样药品种类，大幅降低部署周期与成本。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10800000" flipV="1">
            <a:off x="8013700" y="1663700"/>
            <a:ext cx="546100" cy="546100"/>
          </a:xfrm>
          <a:prstGeom prst="roundRect">
            <a:avLst>
              <a:gd name="adj" fmla="val 20930"/>
            </a:avLst>
          </a:prstGeom>
          <a:gradFill rotWithShape="1">
            <a:gsLst>
              <a:gs pos="0">
                <a:srgbClr val="69BB84">
                  <a:alpha val="100000"/>
                </a:srgbClr>
              </a:gs>
              <a:gs pos="68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99500" y="14605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大模型交叉纠错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99500" y="1828800"/>
            <a:ext cx="28194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当传统算法识别失效时，云端医疗大模型联动专业知识库进行语义推理与纠偏，有效修正识别偏差，将药品综合识别准确率稳定提升至99.5%以上，保障作业零失误。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rot="10800000" flipV="1">
            <a:off x="8013700" y="51562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FF5A11">
                  <a:alpha val="100000"/>
                </a:srgbClr>
              </a:gs>
              <a:gs pos="69000">
                <a:srgbClr val="722300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99500" y="49403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全链路双闭环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699500" y="5308600"/>
            <a:ext cx="28194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打通业务执行与数据流转双链路，实现从问诊开方到药品出库的一体化闭环，库存数据实时同步云端，全流程可追溯，提升运营效率与合规性。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4813300" y="3416300"/>
            <a:ext cx="1472662" cy="1159308"/>
          </a:xfrm>
          <a:custGeom>
            <a:avLst/>
            <a:gdLst/>
            <a:ahLst/>
            <a:cxnLst/>
            <a:rect l="l" t="t" r="r" b="b"/>
            <a:pathLst>
              <a:path w="1472662" h="1159308">
                <a:moveTo>
                  <a:pt x="1472662" y="0"/>
                </a:moveTo>
                <a:lnTo>
                  <a:pt x="1472662" y="308036"/>
                </a:lnTo>
                <a:lnTo>
                  <a:pt x="0" y="1159308"/>
                </a:lnTo>
                <a:lnTo>
                  <a:pt x="0" y="851271"/>
                </a:lnTo>
                <a:lnTo>
                  <a:pt x="1472662" y="0"/>
                </a:lnTo>
                <a:close/>
              </a:path>
            </a:pathLst>
          </a:custGeom>
          <a:solidFill>
            <a:srgbClr val="9877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735242" y="3389217"/>
            <a:ext cx="1547623" cy="899730"/>
          </a:xfrm>
          <a:custGeom>
            <a:avLst/>
            <a:gdLst/>
            <a:ahLst/>
            <a:cxnLst/>
            <a:rect l="l" t="t" r="r" b="b"/>
            <a:pathLst>
              <a:path w="1547623" h="899730">
                <a:moveTo>
                  <a:pt x="1547623" y="46390"/>
                </a:moveTo>
                <a:lnTo>
                  <a:pt x="79099" y="899730"/>
                </a:lnTo>
                <a:lnTo>
                  <a:pt x="9958" y="859840"/>
                </a:lnTo>
                <a:cubicBezTo>
                  <a:pt x="3472" y="857625"/>
                  <a:pt x="0" y="850578"/>
                  <a:pt x="2216" y="844092"/>
                </a:cubicBezTo>
                <a:cubicBezTo>
                  <a:pt x="3457" y="840443"/>
                  <a:pt x="6323" y="837592"/>
                  <a:pt x="9958" y="836350"/>
                </a:cubicBezTo>
                <a:lnTo>
                  <a:pt x="1437853" y="6500"/>
                </a:lnTo>
                <a:cubicBezTo>
                  <a:pt x="1450663" y="0"/>
                  <a:pt x="1465821" y="0"/>
                  <a:pt x="1478629" y="6500"/>
                </a:cubicBezTo>
                <a:close/>
              </a:path>
            </a:pathLst>
          </a:custGeom>
          <a:solidFill>
            <a:srgbClr val="C7A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955989" y="4330642"/>
            <a:ext cx="1483446" cy="910664"/>
          </a:xfrm>
          <a:custGeom>
            <a:avLst/>
            <a:gdLst/>
            <a:ahLst/>
            <a:cxnLst/>
            <a:rect l="l" t="t" r="r" b="b"/>
            <a:pathLst>
              <a:path w="1483446" h="910664">
                <a:moveTo>
                  <a:pt x="1468820" y="19945"/>
                </a:moveTo>
                <a:lnTo>
                  <a:pt x="69733" y="832509"/>
                </a:lnTo>
                <a:cubicBezTo>
                  <a:pt x="47838" y="843737"/>
                  <a:pt x="21895" y="843737"/>
                  <a:pt x="0" y="832509"/>
                </a:cubicBezTo>
                <a:lnTo>
                  <a:pt x="0" y="832509"/>
                </a:lnTo>
                <a:lnTo>
                  <a:pt x="0" y="899582"/>
                </a:lnTo>
                <a:cubicBezTo>
                  <a:pt x="21925" y="910663"/>
                  <a:pt x="47809" y="910663"/>
                  <a:pt x="69733" y="899582"/>
                </a:cubicBezTo>
                <a:lnTo>
                  <a:pt x="1468671" y="87019"/>
                </a:lnTo>
                <a:cubicBezTo>
                  <a:pt x="1476873" y="83487"/>
                  <a:pt x="1482515" y="75805"/>
                  <a:pt x="1483446" y="66926"/>
                </a:cubicBezTo>
                <a:lnTo>
                  <a:pt x="1483446" y="0"/>
                </a:lnTo>
                <a:cubicBezTo>
                  <a:pt x="1482531" y="8806"/>
                  <a:pt x="1476931" y="16428"/>
                  <a:pt x="1468820" y="19945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812989" y="3657542"/>
            <a:ext cx="2621627" cy="1518610"/>
          </a:xfrm>
          <a:custGeom>
            <a:avLst/>
            <a:gdLst/>
            <a:ahLst/>
            <a:cxnLst/>
            <a:rect l="l" t="t" r="r" b="b"/>
            <a:pathLst>
              <a:path w="2621627" h="1518610">
                <a:moveTo>
                  <a:pt x="2602124" y="654337"/>
                </a:moveTo>
                <a:cubicBezTo>
                  <a:pt x="2621479" y="665416"/>
                  <a:pt x="2621627" y="683883"/>
                  <a:pt x="2602124" y="694817"/>
                </a:cubicBezTo>
                <a:lnTo>
                  <a:pt x="1203038" y="1507380"/>
                </a:lnTo>
                <a:cubicBezTo>
                  <a:pt x="1181143" y="1518610"/>
                  <a:pt x="1155199" y="1518610"/>
                  <a:pt x="1133306" y="1507380"/>
                </a:cubicBezTo>
                <a:lnTo>
                  <a:pt x="0" y="853045"/>
                </a:lnTo>
                <a:lnTo>
                  <a:pt x="1468525" y="0"/>
                </a:lnTo>
                <a:close/>
              </a:path>
            </a:pathLst>
          </a:custGeom>
          <a:solidFill>
            <a:srgbClr val="9877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4864100" y="4267200"/>
            <a:ext cx="1123997" cy="892195"/>
          </a:xfrm>
          <a:custGeom>
            <a:avLst/>
            <a:gdLst/>
            <a:ahLst/>
            <a:cxnLst/>
            <a:rect l="l" t="t" r="r" b="b"/>
            <a:pathLst>
              <a:path w="1123997" h="892195">
                <a:moveTo>
                  <a:pt x="1123997" y="657733"/>
                </a:moveTo>
                <a:lnTo>
                  <a:pt x="1123997" y="892195"/>
                </a:lnTo>
                <a:lnTo>
                  <a:pt x="0" y="234461"/>
                </a:lnTo>
                <a:lnTo>
                  <a:pt x="0" y="0"/>
                </a:lnTo>
                <a:lnTo>
                  <a:pt x="1123997" y="6577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5981700" y="4152900"/>
            <a:ext cx="1378552" cy="1008170"/>
          </a:xfrm>
          <a:custGeom>
            <a:avLst/>
            <a:gdLst/>
            <a:ahLst/>
            <a:cxnLst/>
            <a:rect l="l" t="t" r="r" b="b"/>
            <a:pathLst>
              <a:path w="1378552" h="1008170">
                <a:moveTo>
                  <a:pt x="1378552" y="0"/>
                </a:moveTo>
                <a:lnTo>
                  <a:pt x="1378552" y="210528"/>
                </a:lnTo>
                <a:lnTo>
                  <a:pt x="0" y="1008170"/>
                </a:lnTo>
                <a:lnTo>
                  <a:pt x="0" y="773708"/>
                </a:lnTo>
                <a:lnTo>
                  <a:pt x="137855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4889500" y="3644900"/>
            <a:ext cx="2224062" cy="1271737"/>
          </a:xfrm>
          <a:custGeom>
            <a:avLst/>
            <a:gdLst/>
            <a:ahLst/>
            <a:cxnLst/>
            <a:rect l="l" t="t" r="r" b="b"/>
            <a:pathLst>
              <a:path w="2224062" h="1271737">
                <a:moveTo>
                  <a:pt x="1080118" y="1271737"/>
                </a:moveTo>
                <a:lnTo>
                  <a:pt x="0" y="635130"/>
                </a:lnTo>
                <a:lnTo>
                  <a:pt x="1111440" y="0"/>
                </a:lnTo>
                <a:lnTo>
                  <a:pt x="2224062" y="638675"/>
                </a:lnTo>
                <a:lnTo>
                  <a:pt x="1080118" y="1271737"/>
                </a:lnTo>
                <a:close/>
              </a:path>
            </a:pathLst>
          </a:custGeom>
          <a:solidFill>
            <a:srgbClr val="7B7C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4749489" y="4229042"/>
            <a:ext cx="1202742" cy="1004626"/>
          </a:xfrm>
          <a:custGeom>
            <a:avLst/>
            <a:gdLst/>
            <a:ahLst/>
            <a:cxnLst/>
            <a:rect l="l" t="t" r="r" b="b"/>
            <a:pathLst>
              <a:path w="1202742" h="1004626">
                <a:moveTo>
                  <a:pt x="69142" y="125578"/>
                </a:moveTo>
                <a:cubicBezTo>
                  <a:pt x="69261" y="119625"/>
                  <a:pt x="74195" y="114896"/>
                  <a:pt x="80148" y="115016"/>
                </a:cubicBezTo>
                <a:cubicBezTo>
                  <a:pt x="81936" y="115059"/>
                  <a:pt x="83694" y="115533"/>
                  <a:pt x="85246" y="116418"/>
                </a:cubicBezTo>
                <a:lnTo>
                  <a:pt x="1202446" y="761447"/>
                </a:lnTo>
                <a:lnTo>
                  <a:pt x="1202446" y="694373"/>
                </a:lnTo>
                <a:lnTo>
                  <a:pt x="0" y="0"/>
                </a:lnTo>
                <a:lnTo>
                  <a:pt x="0" y="310252"/>
                </a:lnTo>
                <a:lnTo>
                  <a:pt x="1202742" y="1004625"/>
                </a:lnTo>
                <a:lnTo>
                  <a:pt x="1202742" y="937552"/>
                </a:lnTo>
                <a:lnTo>
                  <a:pt x="78449" y="288682"/>
                </a:lnTo>
                <a:cubicBezTo>
                  <a:pt x="73161" y="285579"/>
                  <a:pt x="69777" y="280024"/>
                  <a:pt x="69438" y="273908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5943289" y="4089342"/>
            <a:ext cx="1483152" cy="910664"/>
          </a:xfrm>
          <a:custGeom>
            <a:avLst/>
            <a:gdLst/>
            <a:ahLst/>
            <a:cxnLst/>
            <a:rect l="l" t="t" r="r" b="b"/>
            <a:pathLst>
              <a:path w="1483152" h="910664">
                <a:moveTo>
                  <a:pt x="1468821" y="20240"/>
                </a:moveTo>
                <a:lnTo>
                  <a:pt x="69733" y="832805"/>
                </a:lnTo>
                <a:lnTo>
                  <a:pt x="69733" y="832805"/>
                </a:lnTo>
                <a:lnTo>
                  <a:pt x="69733" y="832805"/>
                </a:lnTo>
                <a:cubicBezTo>
                  <a:pt x="47809" y="843885"/>
                  <a:pt x="21925" y="843885"/>
                  <a:pt x="0" y="832805"/>
                </a:cubicBezTo>
                <a:lnTo>
                  <a:pt x="0" y="899730"/>
                </a:lnTo>
                <a:cubicBezTo>
                  <a:pt x="21850" y="910663"/>
                  <a:pt x="47587" y="910663"/>
                  <a:pt x="69438" y="899730"/>
                </a:cubicBezTo>
                <a:lnTo>
                  <a:pt x="69438" y="899730"/>
                </a:lnTo>
                <a:lnTo>
                  <a:pt x="1468378" y="87166"/>
                </a:lnTo>
                <a:cubicBezTo>
                  <a:pt x="1476577" y="83635"/>
                  <a:pt x="1482221" y="75953"/>
                  <a:pt x="1483152" y="67073"/>
                </a:cubicBezTo>
                <a:lnTo>
                  <a:pt x="1483152" y="0"/>
                </a:lnTo>
                <a:cubicBezTo>
                  <a:pt x="1482457" y="8864"/>
                  <a:pt x="1476946" y="16635"/>
                  <a:pt x="1468821" y="20240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825689" y="3428942"/>
            <a:ext cx="2621479" cy="1518460"/>
          </a:xfrm>
          <a:custGeom>
            <a:avLst/>
            <a:gdLst/>
            <a:ahLst/>
            <a:cxnLst/>
            <a:rect l="l" t="t" r="r" b="b"/>
            <a:pathLst>
              <a:path w="2621479" h="1518460">
                <a:moveTo>
                  <a:pt x="2602126" y="654335"/>
                </a:moveTo>
                <a:cubicBezTo>
                  <a:pt x="2621332" y="665416"/>
                  <a:pt x="2621479" y="683884"/>
                  <a:pt x="2602126" y="694668"/>
                </a:cubicBezTo>
                <a:lnTo>
                  <a:pt x="1203185" y="1507233"/>
                </a:lnTo>
                <a:cubicBezTo>
                  <a:pt x="1181292" y="1518460"/>
                  <a:pt x="1155348" y="1518460"/>
                  <a:pt x="1133453" y="1507233"/>
                </a:cubicBezTo>
                <a:lnTo>
                  <a:pt x="0" y="852897"/>
                </a:lnTo>
                <a:lnTo>
                  <a:pt x="1468378" y="0"/>
                </a:lnTo>
                <a:close/>
              </a:path>
            </a:pathLst>
          </a:custGeom>
          <a:solidFill>
            <a:srgbClr val="C7A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858907" y="3619442"/>
            <a:ext cx="2379217" cy="1154359"/>
          </a:xfrm>
          <a:custGeom>
            <a:avLst/>
            <a:gdLst/>
            <a:ahLst/>
            <a:cxnLst/>
            <a:rect l="l" t="t" r="r" b="b"/>
            <a:pathLst>
              <a:path w="2379217" h="1154359">
                <a:moveTo>
                  <a:pt x="12454" y="526836"/>
                </a:moveTo>
                <a:cubicBezTo>
                  <a:pt x="0" y="543295"/>
                  <a:pt x="3249" y="566741"/>
                  <a:pt x="19707" y="579196"/>
                </a:cubicBezTo>
                <a:cubicBezTo>
                  <a:pt x="20890" y="580082"/>
                  <a:pt x="22116" y="580909"/>
                  <a:pt x="23386" y="581648"/>
                </a:cubicBezTo>
                <a:lnTo>
                  <a:pt x="991814" y="1141431"/>
                </a:lnTo>
                <a:cubicBezTo>
                  <a:pt x="1014270" y="1154358"/>
                  <a:pt x="1041898" y="1154358"/>
                  <a:pt x="1064354" y="1141431"/>
                </a:cubicBezTo>
                <a:lnTo>
                  <a:pt x="2364457" y="386485"/>
                </a:lnTo>
                <a:cubicBezTo>
                  <a:pt x="2375346" y="380368"/>
                  <a:pt x="2379217" y="366599"/>
                  <a:pt x="2373099" y="355711"/>
                </a:cubicBezTo>
                <a:cubicBezTo>
                  <a:pt x="2370898" y="351796"/>
                  <a:pt x="2367575" y="348620"/>
                  <a:pt x="2363572" y="346595"/>
                </a:cubicBezTo>
                <a:lnTo>
                  <a:pt x="1753705" y="0"/>
                </a:lnTo>
                <a:lnTo>
                  <a:pt x="31511" y="501279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876800" y="3035300"/>
            <a:ext cx="1272623" cy="1114690"/>
          </a:xfrm>
          <a:custGeom>
            <a:avLst/>
            <a:gdLst/>
            <a:ahLst/>
            <a:cxnLst/>
            <a:rect l="l" t="t" r="r" b="b"/>
            <a:pathLst>
              <a:path w="1272623" h="1114690">
                <a:moveTo>
                  <a:pt x="1272623" y="0"/>
                </a:moveTo>
                <a:lnTo>
                  <a:pt x="1272623" y="266225"/>
                </a:lnTo>
                <a:lnTo>
                  <a:pt x="0" y="1114690"/>
                </a:lnTo>
                <a:lnTo>
                  <a:pt x="0" y="735592"/>
                </a:lnTo>
                <a:lnTo>
                  <a:pt x="1272623" y="0"/>
                </a:lnTo>
                <a:close/>
              </a:path>
            </a:pathLst>
          </a:custGeom>
          <a:solidFill>
            <a:srgbClr val="F6A7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4810459" y="2995705"/>
            <a:ext cx="1337923" cy="777535"/>
          </a:xfrm>
          <a:custGeom>
            <a:avLst/>
            <a:gdLst/>
            <a:ahLst/>
            <a:cxnLst/>
            <a:rect l="l" t="t" r="r" b="b"/>
            <a:pathLst>
              <a:path w="1337923" h="777535">
                <a:moveTo>
                  <a:pt x="1337923" y="40022"/>
                </a:moveTo>
                <a:lnTo>
                  <a:pt x="68994" y="777535"/>
                </a:lnTo>
                <a:lnTo>
                  <a:pt x="9898" y="743111"/>
                </a:lnTo>
                <a:cubicBezTo>
                  <a:pt x="147" y="737498"/>
                  <a:pt x="0" y="728339"/>
                  <a:pt x="9898" y="722724"/>
                </a:cubicBezTo>
                <a:lnTo>
                  <a:pt x="1243814" y="5747"/>
                </a:lnTo>
                <a:cubicBezTo>
                  <a:pt x="1254835" y="0"/>
                  <a:pt x="1267954" y="0"/>
                  <a:pt x="1278975" y="5747"/>
                </a:cubicBezTo>
                <a:close/>
              </a:path>
            </a:pathLst>
          </a:custGeom>
          <a:solidFill>
            <a:srgbClr val="F8D5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5854389" y="3936942"/>
            <a:ext cx="1281636" cy="787302"/>
          </a:xfrm>
          <a:custGeom>
            <a:avLst/>
            <a:gdLst/>
            <a:ahLst/>
            <a:cxnLst/>
            <a:rect l="l" t="t" r="r" b="b"/>
            <a:pathLst>
              <a:path w="1281636" h="787302">
                <a:moveTo>
                  <a:pt x="1269077" y="17286"/>
                </a:moveTo>
                <a:lnTo>
                  <a:pt x="60277" y="719785"/>
                </a:lnTo>
                <a:cubicBezTo>
                  <a:pt x="41352" y="729447"/>
                  <a:pt x="18925" y="729447"/>
                  <a:pt x="0" y="719785"/>
                </a:cubicBezTo>
                <a:lnTo>
                  <a:pt x="0" y="719785"/>
                </a:lnTo>
                <a:lnTo>
                  <a:pt x="0" y="777698"/>
                </a:lnTo>
                <a:cubicBezTo>
                  <a:pt x="18896" y="787302"/>
                  <a:pt x="41234" y="787302"/>
                  <a:pt x="60129" y="777698"/>
                </a:cubicBezTo>
                <a:lnTo>
                  <a:pt x="1269077" y="75200"/>
                </a:lnTo>
                <a:cubicBezTo>
                  <a:pt x="1276079" y="72052"/>
                  <a:pt x="1280881" y="65405"/>
                  <a:pt x="1281636" y="57767"/>
                </a:cubicBezTo>
                <a:lnTo>
                  <a:pt x="1281636" y="0"/>
                </a:lnTo>
                <a:cubicBezTo>
                  <a:pt x="1280910" y="7623"/>
                  <a:pt x="1276110" y="14243"/>
                  <a:pt x="1269077" y="17286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4876489" y="3238442"/>
            <a:ext cx="2263139" cy="1425386"/>
          </a:xfrm>
          <a:custGeom>
            <a:avLst/>
            <a:gdLst/>
            <a:ahLst/>
            <a:cxnLst/>
            <a:rect l="l" t="t" r="r" b="b"/>
            <a:pathLst>
              <a:path w="2263139" h="1425386">
                <a:moveTo>
                  <a:pt x="2248440" y="678418"/>
                </a:moveTo>
                <a:cubicBezTo>
                  <a:pt x="2258071" y="681786"/>
                  <a:pt x="2263139" y="692320"/>
                  <a:pt x="2259785" y="701937"/>
                </a:cubicBezTo>
                <a:cubicBezTo>
                  <a:pt x="2257924" y="707256"/>
                  <a:pt x="2253742" y="711423"/>
                  <a:pt x="2248440" y="713284"/>
                </a:cubicBezTo>
                <a:lnTo>
                  <a:pt x="1039640" y="1415783"/>
                </a:lnTo>
                <a:cubicBezTo>
                  <a:pt x="1020699" y="1425385"/>
                  <a:pt x="998301" y="1425385"/>
                  <a:pt x="979362" y="1415783"/>
                </a:cubicBezTo>
                <a:lnTo>
                  <a:pt x="0" y="850385"/>
                </a:lnTo>
                <a:lnTo>
                  <a:pt x="1268931" y="0"/>
                </a:lnTo>
                <a:close/>
              </a:path>
            </a:pathLst>
          </a:custGeom>
          <a:solidFill>
            <a:srgbClr val="F6A7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4914900" y="3759200"/>
            <a:ext cx="971236" cy="883923"/>
          </a:xfrm>
          <a:custGeom>
            <a:avLst/>
            <a:gdLst/>
            <a:ahLst/>
            <a:cxnLst/>
            <a:rect l="l" t="t" r="r" b="b"/>
            <a:pathLst>
              <a:path w="971236" h="883923">
                <a:moveTo>
                  <a:pt x="971236" y="568352"/>
                </a:moveTo>
                <a:lnTo>
                  <a:pt x="971236" y="883923"/>
                </a:lnTo>
                <a:lnTo>
                  <a:pt x="0" y="315571"/>
                </a:lnTo>
                <a:lnTo>
                  <a:pt x="0" y="0"/>
                </a:lnTo>
                <a:lnTo>
                  <a:pt x="971236" y="56835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5880100" y="3657600"/>
            <a:ext cx="1191219" cy="984089"/>
          </a:xfrm>
          <a:custGeom>
            <a:avLst/>
            <a:gdLst/>
            <a:ahLst/>
            <a:cxnLst/>
            <a:rect l="l" t="t" r="r" b="b"/>
            <a:pathLst>
              <a:path w="1191219" h="984089">
                <a:moveTo>
                  <a:pt x="1191219" y="0"/>
                </a:moveTo>
                <a:lnTo>
                  <a:pt x="1191219" y="294739"/>
                </a:lnTo>
                <a:lnTo>
                  <a:pt x="0" y="984089"/>
                </a:lnTo>
                <a:lnTo>
                  <a:pt x="0" y="668519"/>
                </a:lnTo>
                <a:lnTo>
                  <a:pt x="1191219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4940300" y="3225800"/>
            <a:ext cx="1921788" cy="1099030"/>
          </a:xfrm>
          <a:custGeom>
            <a:avLst/>
            <a:gdLst/>
            <a:ahLst/>
            <a:cxnLst/>
            <a:rect l="l" t="t" r="r" b="b"/>
            <a:pathLst>
              <a:path w="1921788" h="1099030">
                <a:moveTo>
                  <a:pt x="933266" y="1099030"/>
                </a:moveTo>
                <a:lnTo>
                  <a:pt x="0" y="548851"/>
                </a:lnTo>
                <a:lnTo>
                  <a:pt x="960451" y="0"/>
                </a:lnTo>
                <a:lnTo>
                  <a:pt x="1921788" y="551805"/>
                </a:lnTo>
                <a:lnTo>
                  <a:pt x="933266" y="1099030"/>
                </a:lnTo>
                <a:close/>
              </a:path>
            </a:pathLst>
          </a:custGeom>
          <a:solidFill>
            <a:srgbClr val="7B7C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4825689" y="3733742"/>
            <a:ext cx="1039343" cy="981283"/>
          </a:xfrm>
          <a:custGeom>
            <a:avLst/>
            <a:gdLst/>
            <a:ahLst/>
            <a:cxnLst/>
            <a:rect l="l" t="t" r="r" b="b"/>
            <a:pathLst>
              <a:path w="1039343" h="981283">
                <a:moveTo>
                  <a:pt x="59686" y="108292"/>
                </a:moveTo>
                <a:cubicBezTo>
                  <a:pt x="59672" y="103152"/>
                  <a:pt x="63838" y="98971"/>
                  <a:pt x="68965" y="98955"/>
                </a:cubicBezTo>
                <a:cubicBezTo>
                  <a:pt x="70590" y="98955"/>
                  <a:pt x="72170" y="99369"/>
                  <a:pt x="73575" y="100167"/>
                </a:cubicBezTo>
                <a:lnTo>
                  <a:pt x="1038900" y="657587"/>
                </a:lnTo>
                <a:lnTo>
                  <a:pt x="1038900" y="599672"/>
                </a:lnTo>
                <a:lnTo>
                  <a:pt x="0" y="0"/>
                </a:lnTo>
                <a:lnTo>
                  <a:pt x="0" y="381462"/>
                </a:lnTo>
                <a:lnTo>
                  <a:pt x="1039342" y="981283"/>
                </a:lnTo>
                <a:lnTo>
                  <a:pt x="1039342" y="923368"/>
                </a:lnTo>
                <a:lnTo>
                  <a:pt x="67664" y="361960"/>
                </a:lnTo>
                <a:cubicBezTo>
                  <a:pt x="62818" y="359317"/>
                  <a:pt x="59864" y="354190"/>
                  <a:pt x="59982" y="348664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5854389" y="3619442"/>
            <a:ext cx="1281487" cy="783904"/>
          </a:xfrm>
          <a:custGeom>
            <a:avLst/>
            <a:gdLst/>
            <a:ahLst/>
            <a:cxnLst/>
            <a:rect l="l" t="t" r="r" b="b"/>
            <a:pathLst>
              <a:path w="1281487" h="783904">
                <a:moveTo>
                  <a:pt x="1269077" y="16103"/>
                </a:moveTo>
                <a:lnTo>
                  <a:pt x="60277" y="718602"/>
                </a:lnTo>
                <a:lnTo>
                  <a:pt x="60277" y="718602"/>
                </a:lnTo>
                <a:lnTo>
                  <a:pt x="60277" y="718602"/>
                </a:lnTo>
                <a:cubicBezTo>
                  <a:pt x="41337" y="728205"/>
                  <a:pt x="18941" y="728205"/>
                  <a:pt x="0" y="718602"/>
                </a:cubicBezTo>
                <a:lnTo>
                  <a:pt x="0" y="776516"/>
                </a:lnTo>
                <a:cubicBezTo>
                  <a:pt x="9101" y="781333"/>
                  <a:pt x="19251" y="783814"/>
                  <a:pt x="29548" y="783755"/>
                </a:cubicBezTo>
                <a:cubicBezTo>
                  <a:pt x="39831" y="783903"/>
                  <a:pt x="49996" y="781465"/>
                  <a:pt x="59095" y="776664"/>
                </a:cubicBezTo>
                <a:lnTo>
                  <a:pt x="59095" y="776664"/>
                </a:lnTo>
                <a:lnTo>
                  <a:pt x="1268929" y="75199"/>
                </a:lnTo>
                <a:cubicBezTo>
                  <a:pt x="1275888" y="72081"/>
                  <a:pt x="1280675" y="65507"/>
                  <a:pt x="1281487" y="57914"/>
                </a:cubicBezTo>
                <a:lnTo>
                  <a:pt x="1281487" y="0"/>
                </a:lnTo>
                <a:cubicBezTo>
                  <a:pt x="1280409" y="7150"/>
                  <a:pt x="1275711" y="13237"/>
                  <a:pt x="1269077" y="16103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4876489" y="3035242"/>
            <a:ext cx="2263287" cy="1312513"/>
          </a:xfrm>
          <a:custGeom>
            <a:avLst/>
            <a:gdLst/>
            <a:ahLst/>
            <a:cxnLst/>
            <a:rect l="l" t="t" r="r" b="b"/>
            <a:pathLst>
              <a:path w="2263287" h="1312513">
                <a:moveTo>
                  <a:pt x="2248587" y="565545"/>
                </a:moveTo>
                <a:cubicBezTo>
                  <a:pt x="2258219" y="568914"/>
                  <a:pt x="2263287" y="579447"/>
                  <a:pt x="2259933" y="589065"/>
                </a:cubicBezTo>
                <a:cubicBezTo>
                  <a:pt x="2258071" y="594384"/>
                  <a:pt x="2253890" y="598551"/>
                  <a:pt x="2248587" y="600411"/>
                </a:cubicBezTo>
                <a:lnTo>
                  <a:pt x="1039640" y="1302909"/>
                </a:lnTo>
                <a:cubicBezTo>
                  <a:pt x="1020699" y="1312513"/>
                  <a:pt x="998301" y="1312513"/>
                  <a:pt x="979362" y="1302909"/>
                </a:cubicBezTo>
                <a:lnTo>
                  <a:pt x="0" y="737513"/>
                </a:lnTo>
                <a:lnTo>
                  <a:pt x="1268929" y="0"/>
                </a:lnTo>
                <a:close/>
              </a:path>
            </a:pathLst>
          </a:custGeom>
          <a:solidFill>
            <a:srgbClr val="F8D5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5409889" y="3327342"/>
            <a:ext cx="1152364" cy="684621"/>
          </a:xfrm>
          <a:custGeom>
            <a:avLst/>
            <a:gdLst/>
            <a:ahLst/>
            <a:cxnLst/>
            <a:rect l="l" t="t" r="r" b="b"/>
            <a:pathLst>
              <a:path w="1152364" h="684621">
                <a:moveTo>
                  <a:pt x="1152364" y="342312"/>
                </a:moveTo>
                <a:cubicBezTo>
                  <a:pt x="1152364" y="531269"/>
                  <a:pt x="894707" y="684621"/>
                  <a:pt x="576181" y="684621"/>
                </a:cubicBezTo>
                <a:cubicBezTo>
                  <a:pt x="257657" y="684621"/>
                  <a:pt x="0" y="531269"/>
                  <a:pt x="0" y="342312"/>
                </a:cubicBezTo>
                <a:cubicBezTo>
                  <a:pt x="0" y="153353"/>
                  <a:pt x="257657" y="0"/>
                  <a:pt x="576181" y="0"/>
                </a:cubicBezTo>
                <a:cubicBezTo>
                  <a:pt x="894707" y="0"/>
                  <a:pt x="1152364" y="153353"/>
                  <a:pt x="1152364" y="342312"/>
                </a:cubicBezTo>
                <a:close/>
              </a:path>
            </a:pathLst>
          </a:custGeom>
          <a:solidFill>
            <a:srgbClr val="DDB00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5756284" y="1993076"/>
            <a:ext cx="459467" cy="337732"/>
          </a:xfrm>
          <a:custGeom>
            <a:avLst/>
            <a:gdLst/>
            <a:ahLst/>
            <a:cxnLst/>
            <a:rect l="l" t="t" r="r" b="b"/>
            <a:pathLst>
              <a:path w="459467" h="337732">
                <a:moveTo>
                  <a:pt x="447205" y="173150"/>
                </a:moveTo>
                <a:cubicBezTo>
                  <a:pt x="459467" y="57322"/>
                  <a:pt x="282919" y="0"/>
                  <a:pt x="156898" y="37673"/>
                </a:cubicBezTo>
                <a:cubicBezTo>
                  <a:pt x="23933" y="74903"/>
                  <a:pt x="0" y="186890"/>
                  <a:pt x="82142" y="252190"/>
                </a:cubicBezTo>
                <a:cubicBezTo>
                  <a:pt x="188662" y="337732"/>
                  <a:pt x="404066" y="304933"/>
                  <a:pt x="440852" y="200186"/>
                </a:cubicBezTo>
                <a:cubicBezTo>
                  <a:pt x="443926" y="191640"/>
                  <a:pt x="446009" y="182765"/>
                  <a:pt x="447058" y="173741"/>
                </a:cubicBezTo>
                <a:cubicBezTo>
                  <a:pt x="447058" y="173741"/>
                  <a:pt x="447205" y="173888"/>
                  <a:pt x="447205" y="173150"/>
                </a:cubicBezTo>
                <a:close/>
                <a:moveTo>
                  <a:pt x="355608" y="266373"/>
                </a:moveTo>
                <a:cubicBezTo>
                  <a:pt x="290601" y="302866"/>
                  <a:pt x="186741" y="301832"/>
                  <a:pt x="123509" y="264010"/>
                </a:cubicBezTo>
                <a:cubicBezTo>
                  <a:pt x="60277" y="226188"/>
                  <a:pt x="61754" y="166206"/>
                  <a:pt x="126760" y="129715"/>
                </a:cubicBezTo>
                <a:cubicBezTo>
                  <a:pt x="191764" y="93223"/>
                  <a:pt x="295625" y="94258"/>
                  <a:pt x="358856" y="132078"/>
                </a:cubicBezTo>
                <a:cubicBezTo>
                  <a:pt x="422089" y="169900"/>
                  <a:pt x="420612" y="230326"/>
                  <a:pt x="355608" y="266817"/>
                </a:cubicBezTo>
                <a:close/>
              </a:path>
            </a:pathLst>
          </a:custGeom>
          <a:solidFill>
            <a:srgbClr val="A9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5892489" y="2197042"/>
            <a:ext cx="215995" cy="438992"/>
          </a:xfrm>
          <a:custGeom>
            <a:avLst/>
            <a:gdLst/>
            <a:ahLst/>
            <a:cxnLst/>
            <a:rect l="l" t="t" r="r" b="b"/>
            <a:pathLst>
              <a:path w="215995" h="438992">
                <a:moveTo>
                  <a:pt x="183345" y="45060"/>
                </a:moveTo>
                <a:cubicBezTo>
                  <a:pt x="135374" y="68864"/>
                  <a:pt x="78907" y="68260"/>
                  <a:pt x="31469" y="43436"/>
                </a:cubicBezTo>
                <a:cubicBezTo>
                  <a:pt x="14272" y="35458"/>
                  <a:pt x="2661" y="18886"/>
                  <a:pt x="1035" y="0"/>
                </a:cubicBezTo>
                <a:lnTo>
                  <a:pt x="0" y="369347"/>
                </a:lnTo>
                <a:cubicBezTo>
                  <a:pt x="1418" y="388529"/>
                  <a:pt x="13047" y="405470"/>
                  <a:pt x="30434" y="413669"/>
                </a:cubicBezTo>
                <a:cubicBezTo>
                  <a:pt x="77903" y="438445"/>
                  <a:pt x="134368" y="438992"/>
                  <a:pt x="182311" y="415147"/>
                </a:cubicBezTo>
                <a:cubicBezTo>
                  <a:pt x="200468" y="407435"/>
                  <a:pt x="212981" y="390447"/>
                  <a:pt x="214961" y="370826"/>
                </a:cubicBezTo>
                <a:lnTo>
                  <a:pt x="215995" y="1478"/>
                </a:lnTo>
                <a:cubicBezTo>
                  <a:pt x="213690" y="20802"/>
                  <a:pt x="201250" y="37424"/>
                  <a:pt x="183345" y="45060"/>
                </a:cubicBezTo>
                <a:close/>
              </a:path>
            </a:pathLst>
          </a:custGeom>
          <a:solidFill>
            <a:srgbClr val="D4F5F9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5812183" y="2022097"/>
            <a:ext cx="361664" cy="209789"/>
          </a:xfrm>
          <a:custGeom>
            <a:avLst/>
            <a:gdLst/>
            <a:ahLst/>
            <a:cxnLst/>
            <a:rect l="l" t="t" r="r" b="b"/>
            <a:pathLst>
              <a:path w="361664" h="209789">
                <a:moveTo>
                  <a:pt x="295330" y="173297"/>
                </a:moveTo>
                <a:cubicBezTo>
                  <a:pt x="230325" y="209788"/>
                  <a:pt x="126464" y="208755"/>
                  <a:pt x="63232" y="170933"/>
                </a:cubicBezTo>
                <a:cubicBezTo>
                  <a:pt x="0" y="133112"/>
                  <a:pt x="1624" y="72983"/>
                  <a:pt x="66482" y="36490"/>
                </a:cubicBezTo>
                <a:cubicBezTo>
                  <a:pt x="131340" y="0"/>
                  <a:pt x="235496" y="1182"/>
                  <a:pt x="298579" y="38855"/>
                </a:cubicBezTo>
                <a:cubicBezTo>
                  <a:pt x="361664" y="76527"/>
                  <a:pt x="360335" y="136805"/>
                  <a:pt x="295330" y="173297"/>
                </a:cubicBezTo>
                <a:close/>
              </a:path>
            </a:pathLst>
          </a:custGeom>
          <a:solidFill>
            <a:srgbClr val="D4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5812183" y="2022097"/>
            <a:ext cx="361664" cy="209789"/>
          </a:xfrm>
          <a:custGeom>
            <a:avLst/>
            <a:gdLst/>
            <a:ahLst/>
            <a:cxnLst/>
            <a:rect l="l" t="t" r="r" b="b"/>
            <a:pathLst>
              <a:path w="361664" h="209789">
                <a:moveTo>
                  <a:pt x="295330" y="173297"/>
                </a:moveTo>
                <a:cubicBezTo>
                  <a:pt x="230325" y="209788"/>
                  <a:pt x="126464" y="208755"/>
                  <a:pt x="63232" y="170933"/>
                </a:cubicBezTo>
                <a:cubicBezTo>
                  <a:pt x="0" y="133112"/>
                  <a:pt x="1624" y="72983"/>
                  <a:pt x="66482" y="36490"/>
                </a:cubicBezTo>
                <a:cubicBezTo>
                  <a:pt x="131340" y="0"/>
                  <a:pt x="235496" y="1182"/>
                  <a:pt x="298579" y="38855"/>
                </a:cubicBezTo>
                <a:cubicBezTo>
                  <a:pt x="361664" y="76527"/>
                  <a:pt x="360335" y="136805"/>
                  <a:pt x="295330" y="173297"/>
                </a:cubicBezTo>
                <a:close/>
              </a:path>
            </a:pathLst>
          </a:custGeom>
          <a:solidFill>
            <a:srgbClr val="DBE7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761631" y="1977782"/>
            <a:ext cx="448682" cy="369641"/>
          </a:xfrm>
          <a:custGeom>
            <a:avLst/>
            <a:gdLst/>
            <a:ahLst/>
            <a:cxnLst/>
            <a:rect l="l" t="t" r="r" b="b"/>
            <a:pathLst>
              <a:path w="448682" h="369641">
                <a:moveTo>
                  <a:pt x="424009" y="121589"/>
                </a:moveTo>
                <a:lnTo>
                  <a:pt x="424009" y="121589"/>
                </a:lnTo>
                <a:cubicBezTo>
                  <a:pt x="423670" y="121012"/>
                  <a:pt x="423272" y="120469"/>
                  <a:pt x="422827" y="119963"/>
                </a:cubicBezTo>
                <a:cubicBezTo>
                  <a:pt x="340094" y="0"/>
                  <a:pt x="64709" y="21422"/>
                  <a:pt x="32501" y="157637"/>
                </a:cubicBezTo>
                <a:cubicBezTo>
                  <a:pt x="32192" y="158703"/>
                  <a:pt x="31940" y="159789"/>
                  <a:pt x="31764" y="160887"/>
                </a:cubicBezTo>
                <a:cubicBezTo>
                  <a:pt x="0" y="308626"/>
                  <a:pt x="278634" y="369642"/>
                  <a:pt x="399337" y="265930"/>
                </a:cubicBezTo>
                <a:lnTo>
                  <a:pt x="400076" y="265930"/>
                </a:lnTo>
                <a:cubicBezTo>
                  <a:pt x="411585" y="256363"/>
                  <a:pt x="421336" y="244864"/>
                  <a:pt x="428885" y="231949"/>
                </a:cubicBezTo>
                <a:cubicBezTo>
                  <a:pt x="448682" y="197303"/>
                  <a:pt x="446791" y="154354"/>
                  <a:pt x="424009" y="121589"/>
                </a:cubicBezTo>
                <a:close/>
                <a:moveTo>
                  <a:pt x="350140" y="213777"/>
                </a:moveTo>
                <a:cubicBezTo>
                  <a:pt x="285135" y="250269"/>
                  <a:pt x="181274" y="249234"/>
                  <a:pt x="118042" y="211414"/>
                </a:cubicBezTo>
                <a:cubicBezTo>
                  <a:pt x="54809" y="173593"/>
                  <a:pt x="56436" y="113462"/>
                  <a:pt x="121292" y="76971"/>
                </a:cubicBezTo>
                <a:cubicBezTo>
                  <a:pt x="186150" y="40480"/>
                  <a:pt x="290305" y="41662"/>
                  <a:pt x="353391" y="79335"/>
                </a:cubicBezTo>
                <a:cubicBezTo>
                  <a:pt x="416475" y="117008"/>
                  <a:pt x="415737" y="177286"/>
                  <a:pt x="350730" y="213777"/>
                </a:cubicBezTo>
                <a:close/>
              </a:path>
            </a:pathLst>
          </a:custGeom>
          <a:solidFill>
            <a:srgbClr val="D0DF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5278951" y="2552642"/>
            <a:ext cx="1429523" cy="1447250"/>
          </a:xfrm>
          <a:custGeom>
            <a:avLst/>
            <a:gdLst/>
            <a:ahLst/>
            <a:cxnLst/>
            <a:rect l="l" t="t" r="r" b="b"/>
            <a:pathLst>
              <a:path w="1429523" h="1447250">
                <a:moveTo>
                  <a:pt x="1282965" y="849793"/>
                </a:moveTo>
                <a:lnTo>
                  <a:pt x="1282965" y="849793"/>
                </a:lnTo>
                <a:lnTo>
                  <a:pt x="848761" y="43140"/>
                </a:lnTo>
                <a:lnTo>
                  <a:pt x="826009" y="590"/>
                </a:lnTo>
                <a:cubicBezTo>
                  <a:pt x="837680" y="22308"/>
                  <a:pt x="828225" y="46981"/>
                  <a:pt x="798234" y="63823"/>
                </a:cubicBezTo>
                <a:cubicBezTo>
                  <a:pt x="750293" y="87668"/>
                  <a:pt x="693826" y="87122"/>
                  <a:pt x="646358" y="62345"/>
                </a:cubicBezTo>
                <a:cubicBezTo>
                  <a:pt x="617844" y="45208"/>
                  <a:pt x="609423" y="21127"/>
                  <a:pt x="620947" y="0"/>
                </a:cubicBezTo>
                <a:lnTo>
                  <a:pt x="159115" y="846692"/>
                </a:lnTo>
                <a:cubicBezTo>
                  <a:pt x="0" y="1134191"/>
                  <a:pt x="324731" y="1447250"/>
                  <a:pt x="798381" y="1406031"/>
                </a:cubicBezTo>
                <a:cubicBezTo>
                  <a:pt x="1133896" y="1378404"/>
                  <a:pt x="1429523" y="1152216"/>
                  <a:pt x="1282965" y="849793"/>
                </a:cubicBezTo>
                <a:close/>
              </a:path>
            </a:pathLst>
          </a:custGeom>
          <a:solidFill>
            <a:srgbClr val="D4F5F9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5370855" y="2925242"/>
            <a:ext cx="1238791" cy="1000784"/>
          </a:xfrm>
          <a:custGeom>
            <a:avLst/>
            <a:gdLst/>
            <a:ahLst/>
            <a:cxnLst/>
            <a:rect l="l" t="t" r="r" b="b"/>
            <a:pathLst>
              <a:path w="1238791" h="1000784">
                <a:moveTo>
                  <a:pt x="1111736" y="482516"/>
                </a:moveTo>
                <a:lnTo>
                  <a:pt x="1111736" y="482516"/>
                </a:lnTo>
                <a:cubicBezTo>
                  <a:pt x="1065937" y="397566"/>
                  <a:pt x="994874" y="250566"/>
                  <a:pt x="949224" y="165467"/>
                </a:cubicBezTo>
                <a:cubicBezTo>
                  <a:pt x="869591" y="17729"/>
                  <a:pt x="397270" y="0"/>
                  <a:pt x="312469" y="155273"/>
                </a:cubicBezTo>
                <a:cubicBezTo>
                  <a:pt x="263862" y="243916"/>
                  <a:pt x="186594" y="390621"/>
                  <a:pt x="137988" y="480300"/>
                </a:cubicBezTo>
                <a:cubicBezTo>
                  <a:pt x="0" y="729535"/>
                  <a:pt x="281591" y="1000784"/>
                  <a:pt x="691862" y="965031"/>
                </a:cubicBezTo>
                <a:cubicBezTo>
                  <a:pt x="982611" y="940802"/>
                  <a:pt x="1238791" y="744752"/>
                  <a:pt x="1111736" y="482516"/>
                </a:cubicBezTo>
                <a:close/>
              </a:path>
            </a:pathLst>
          </a:custGeom>
          <a:solidFill>
            <a:srgbClr val="42D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5663889" y="2959042"/>
            <a:ext cx="658029" cy="340686"/>
          </a:xfrm>
          <a:custGeom>
            <a:avLst/>
            <a:gdLst/>
            <a:ahLst/>
            <a:cxnLst/>
            <a:rect l="l" t="t" r="r" b="b"/>
            <a:pathLst>
              <a:path w="658029" h="340686">
                <a:moveTo>
                  <a:pt x="658029" y="170343"/>
                </a:moveTo>
                <a:cubicBezTo>
                  <a:pt x="658029" y="264453"/>
                  <a:pt x="510290" y="340686"/>
                  <a:pt x="329014" y="340686"/>
                </a:cubicBezTo>
                <a:cubicBezTo>
                  <a:pt x="147739" y="340686"/>
                  <a:pt x="0" y="264453"/>
                  <a:pt x="0" y="170343"/>
                </a:cubicBezTo>
                <a:cubicBezTo>
                  <a:pt x="0" y="76233"/>
                  <a:pt x="147739" y="0"/>
                  <a:pt x="329014" y="0"/>
                </a:cubicBezTo>
                <a:cubicBezTo>
                  <a:pt x="510290" y="0"/>
                  <a:pt x="658029" y="76233"/>
                  <a:pt x="658029" y="170343"/>
                </a:cubicBezTo>
                <a:close/>
              </a:path>
            </a:pathLst>
          </a:custGeom>
          <a:solidFill>
            <a:srgbClr val="6BE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5698193" y="3015962"/>
            <a:ext cx="363733" cy="265633"/>
          </a:xfrm>
          <a:custGeom>
            <a:avLst/>
            <a:gdLst/>
            <a:ahLst/>
            <a:cxnLst/>
            <a:rect l="l" t="t" r="r" b="b"/>
            <a:pathLst>
              <a:path w="363733" h="265633">
                <a:moveTo>
                  <a:pt x="122918" y="8274"/>
                </a:moveTo>
                <a:cubicBezTo>
                  <a:pt x="196788" y="0"/>
                  <a:pt x="210380" y="23046"/>
                  <a:pt x="215551" y="55697"/>
                </a:cubicBezTo>
                <a:cubicBezTo>
                  <a:pt x="221313" y="90858"/>
                  <a:pt x="187924" y="105781"/>
                  <a:pt x="156455" y="112872"/>
                </a:cubicBezTo>
                <a:cubicBezTo>
                  <a:pt x="124987" y="119964"/>
                  <a:pt x="111099" y="177138"/>
                  <a:pt x="154535" y="202697"/>
                </a:cubicBezTo>
                <a:cubicBezTo>
                  <a:pt x="197970" y="228256"/>
                  <a:pt x="363733" y="254110"/>
                  <a:pt x="363733" y="254110"/>
                </a:cubicBezTo>
                <a:cubicBezTo>
                  <a:pt x="363733" y="254110"/>
                  <a:pt x="199300" y="265633"/>
                  <a:pt x="112576" y="232097"/>
                </a:cubicBezTo>
                <a:cubicBezTo>
                  <a:pt x="38707" y="203583"/>
                  <a:pt x="7978" y="169013"/>
                  <a:pt x="3988" y="121884"/>
                </a:cubicBezTo>
                <a:cubicBezTo>
                  <a:pt x="0" y="74756"/>
                  <a:pt x="58652" y="15364"/>
                  <a:pt x="122918" y="8274"/>
                </a:cubicBezTo>
                <a:close/>
              </a:path>
            </a:pathLst>
          </a:custGeom>
          <a:solidFill>
            <a:srgbClr val="FFFFFF">
              <a:alpha val="3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7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核心技术与创新点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8E7EF0">
              <a:alpha val="47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">
            <a:off x="0" y="1612900"/>
            <a:ext cx="3683000" cy="3683000"/>
          </a:xfrm>
          <a:prstGeom prst="ellipse">
            <a:avLst/>
          </a:prstGeom>
          <a:gradFill rotWithShape="0">
            <a:gsLst>
              <a:gs pos="0">
                <a:srgbClr val="F7F7E7">
                  <a:alpha val="0"/>
                </a:srgbClr>
              </a:gs>
              <a:gs pos="60000">
                <a:srgbClr val="E8E6B7">
                  <a:alpha val="32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2476500"/>
            <a:ext cx="108585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依托智能化技术与算法模型，对传统医药分拣流程进行全面数字化升级，在作业精度、处理速度、风险控制及社会价值维度均达成行业领先标准。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282700"/>
            <a:ext cx="10858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智慧医药分拣系统核心价值成果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7380000">
            <a:off x="10375900" y="698500"/>
            <a:ext cx="1485900" cy="14859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049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10B981">
                  <a:alpha val="100000"/>
                </a:srgbClr>
              </a:gs>
              <a:gs pos="60000">
                <a:srgbClr val="047857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047857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034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微软雅黑"/>
                <a:ea typeface="微软雅黑"/>
                <a:cs typeface="微软雅黑"/>
                <a:sym typeface="微软雅黑"/>
              </a:rPr>
              <a:t>差错率降低至 &lt; 0.1%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034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人工拣药差错率从3%降至0.1%以下，显著减少客诉与赔偿。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167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8B5CF6">
                  <a:alpha val="100000"/>
                </a:srgbClr>
              </a:gs>
              <a:gs pos="60000">
                <a:srgbClr val="6D28D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6D28D9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152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6D28D9"/>
                </a:solidFill>
                <a:latin typeface="微软雅黑"/>
                <a:ea typeface="微软雅黑"/>
                <a:cs typeface="微软雅黑"/>
                <a:sym typeface="微软雅黑"/>
              </a:rPr>
              <a:t>社会效益显著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152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覆盖全国68万零售药店与超105万基层医疗机构，缓解基层药师缺口，提升用药安全与医疗可及性。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049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3B82F6">
                  <a:alpha val="100000"/>
                </a:srgbClr>
              </a:gs>
              <a:gs pos="60000">
                <a:srgbClr val="1E40A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1E40AF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034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分拣准确率 &gt; 99.5%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8034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通过三重校验机制，综合识别准确率超99.5%，远超人工水平。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722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167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97316">
                  <a:alpha val="100000"/>
                </a:srgbClr>
              </a:gs>
              <a:gs pos="60000">
                <a:srgbClr val="C2410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C2410C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152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微软雅黑"/>
                <a:ea typeface="微软雅黑"/>
                <a:cs typeface="微软雅黑"/>
                <a:sym typeface="微软雅黑"/>
              </a:rPr>
              <a:t>效率提升 3-5倍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152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拣药效率相比人工提升3-5倍，满足O2O即时配送时效要求。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关键性能指标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04.项目价值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t>社会价值 · 经济价值 · 技术价值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EBEE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273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273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/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542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5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8992">
            <a:off x="2400318" y="4616450"/>
            <a:ext cx="2298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831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2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/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769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9098">
            <a:off x="6223018" y="46164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009900" y="1371600"/>
            <a:ext cx="6184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72700" y="4203700"/>
            <a:ext cx="1778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72700" y="4787900"/>
            <a:ext cx="177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996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4731">
            <a:off x="10045723" y="4616450"/>
            <a:ext cx="1765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746500" y="2082800"/>
            <a:ext cx="4699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22" name="TextBox 21"/>
          <p:cNvSpPr txBox="1"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项目核心价值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" y="1155700"/>
            <a:ext cx="108585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6464"/>
                </a:solidFill>
              </a:defRPr>
            </a:pPr>
            <a:r>
              <a:t>社会价值 · 经济价值 · 技术价值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400" y="1800000"/>
            <a:ext cx="3400000" cy="42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0A0"/>
                </a:solidFill>
              </a:defRPr>
            </a:pPr>
            <a:r>
              <a:t>社会价值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400" y="2400000"/>
            <a:ext cx="3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C3C3C"/>
                </a:solidFill>
              </a:defRPr>
            </a:pPr>
            <a:r>
              <a:t>  • 缓解基层"有店无药师"痛点</a:t>
            </a:r>
            <a:br/>
            <a:r>
              <a:t>  • 24h服务满足夜间急用药需求</a:t>
            </a:r>
            <a:br/>
            <a:r>
              <a:t>  • 语音+大字适老降低使用门槛</a:t>
            </a:r>
            <a:br/>
            <a:r>
              <a:t>  • 低成本赋能中小药店促健康公平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0400" y="1800000"/>
            <a:ext cx="3400000" cy="42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0A0"/>
                </a:solidFill>
              </a:defRPr>
            </a:pPr>
            <a:r>
              <a:t>经济价值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0400" y="2400000"/>
            <a:ext cx="3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C3C3C"/>
                </a:solidFill>
              </a:defRPr>
            </a:pPr>
            <a:r>
              <a:t>  • 差错率3%→0.1%减客诉赔偿</a:t>
            </a:r>
            <a:br/>
            <a:r>
              <a:t>  • 拣药效率提升3-5倍</a:t>
            </a:r>
            <a:br/>
            <a:r>
              <a:t>  • 夜间增收拓展营业场景</a:t>
            </a:r>
            <a:br/>
            <a:r>
              <a:t>  • AI咨询增强客户粘性促复购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0400" y="1800000"/>
            <a:ext cx="3400000" cy="42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0A0"/>
                </a:solidFill>
              </a:defRPr>
            </a:pPr>
            <a:r>
              <a:t>技术价值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0400" y="2400000"/>
            <a:ext cx="3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C3C3C"/>
                </a:solidFill>
              </a:defRPr>
            </a:pPr>
            <a:r>
              <a:t>  • 多模态融合验证准确率&gt;99.5%</a:t>
            </a:r>
            <a:br/>
            <a:r>
              <a:t>  • 大模型安全边界为行业范式</a:t>
            </a:r>
            <a:br/>
            <a:r>
              <a:t>  • 软硬一体可复制标准化架构</a:t>
            </a:r>
            <a:br/>
            <a:r>
              <a:t>  • 云边端全链路数据闭环追溯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商业模式与市场策略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构建B2B2C价值生态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6908800" y="3505200"/>
            <a:ext cx="23749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rnd" cmpd="sng">
            <a:gradFill rotWithShape="0">
              <a:gsLst>
                <a:gs pos="20000">
                  <a:srgbClr val="808080">
                    <a:alpha val="20000"/>
                  </a:srgbClr>
                </a:gs>
                <a:gs pos="100000">
                  <a:srgbClr val="808080">
                    <a:alpha val="0"/>
                  </a:srgbClr>
                </a:gs>
              </a:gsLst>
              <a:lin ang="0"/>
            </a:gradFill>
            <a:prstDash val="solid"/>
            <a:round/>
            <a:headEnd type="none" w="sm" len="sm"/>
            <a:tailEnd type="none" w="med" len="sm"/>
          </a:ln>
        </p:spPr>
      </p:cxnSp>
      <p:cxnSp>
        <p:nvCxnSpPr>
          <p:cNvPr id="5" name="Connector 5"/>
          <p:cNvCxnSpPr/>
          <p:nvPr/>
        </p:nvCxnSpPr>
        <p:spPr>
          <a:xfrm rot="10762835">
            <a:off x="3086066" y="350520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rnd" cmpd="sng">
            <a:gradFill rotWithShape="0">
              <a:gsLst>
                <a:gs pos="20000">
                  <a:srgbClr val="808080">
                    <a:alpha val="20000"/>
                  </a:srgbClr>
                </a:gs>
                <a:gs pos="100000">
                  <a:srgbClr val="808080">
                    <a:alpha val="0"/>
                  </a:srgbClr>
                </a:gs>
              </a:gsLst>
              <a:lin ang="0"/>
            </a:gradFill>
            <a:prstDash val="solid"/>
            <a:round/>
            <a:headEnd type="none" w="sm" len="sm"/>
            <a:tailEnd type="none" w="med" len="sm"/>
          </a:ln>
        </p:spPr>
      </p:cxnSp>
      <p:sp>
        <p:nvSpPr>
          <p:cNvPr id="6" name="Freeform 6"/>
          <p:cNvSpPr/>
          <p:nvPr/>
        </p:nvSpPr>
        <p:spPr>
          <a:xfrm>
            <a:off x="5257800" y="2476500"/>
            <a:ext cx="1661232" cy="1395537"/>
          </a:xfrm>
          <a:custGeom>
            <a:avLst/>
            <a:gdLst/>
            <a:ahLst/>
            <a:cxnLst/>
            <a:rect l="l" t="t" r="r" b="b"/>
            <a:pathLst>
              <a:path w="1661232" h="1395537">
                <a:moveTo>
                  <a:pt x="1237228" y="704376"/>
                </a:moveTo>
                <a:cubicBezTo>
                  <a:pt x="1271043" y="704376"/>
                  <a:pt x="1298355" y="731644"/>
                  <a:pt x="1298355" y="765407"/>
                </a:cubicBezTo>
                <a:lnTo>
                  <a:pt x="1298355" y="1333729"/>
                </a:lnTo>
                <a:cubicBezTo>
                  <a:pt x="1298355" y="1367492"/>
                  <a:pt x="1271043" y="1394760"/>
                  <a:pt x="1237228" y="1394760"/>
                </a:cubicBezTo>
                <a:cubicBezTo>
                  <a:pt x="1203411" y="1394760"/>
                  <a:pt x="1176099" y="1367492"/>
                  <a:pt x="1176099" y="1333729"/>
                </a:cubicBezTo>
                <a:lnTo>
                  <a:pt x="1176099" y="765407"/>
                </a:lnTo>
                <a:cubicBezTo>
                  <a:pt x="1176099" y="731644"/>
                  <a:pt x="1203411" y="704376"/>
                  <a:pt x="1237228" y="704376"/>
                </a:cubicBezTo>
                <a:close/>
                <a:moveTo>
                  <a:pt x="424005" y="704376"/>
                </a:moveTo>
                <a:cubicBezTo>
                  <a:pt x="457821" y="704376"/>
                  <a:pt x="485134" y="731644"/>
                  <a:pt x="485134" y="765407"/>
                </a:cubicBezTo>
                <a:lnTo>
                  <a:pt x="485134" y="1333729"/>
                </a:lnTo>
                <a:cubicBezTo>
                  <a:pt x="485134" y="1367492"/>
                  <a:pt x="457821" y="1394760"/>
                  <a:pt x="424005" y="1394760"/>
                </a:cubicBezTo>
                <a:cubicBezTo>
                  <a:pt x="390190" y="1394760"/>
                  <a:pt x="362877" y="1367492"/>
                  <a:pt x="362877" y="1333729"/>
                </a:cubicBezTo>
                <a:lnTo>
                  <a:pt x="362877" y="765407"/>
                </a:lnTo>
                <a:cubicBezTo>
                  <a:pt x="362877" y="731644"/>
                  <a:pt x="390190" y="704376"/>
                  <a:pt x="424005" y="704376"/>
                </a:cubicBezTo>
                <a:close/>
                <a:moveTo>
                  <a:pt x="830616" y="0"/>
                </a:moveTo>
                <a:cubicBezTo>
                  <a:pt x="1216877" y="0"/>
                  <a:pt x="1531611" y="312524"/>
                  <a:pt x="1538114" y="699066"/>
                </a:cubicBezTo>
                <a:cubicBezTo>
                  <a:pt x="1609209" y="720278"/>
                  <a:pt x="1661232" y="787804"/>
                  <a:pt x="1661232" y="867882"/>
                </a:cubicBezTo>
                <a:lnTo>
                  <a:pt x="1661232" y="1219796"/>
                </a:lnTo>
                <a:cubicBezTo>
                  <a:pt x="1661232" y="1316756"/>
                  <a:pt x="1584933" y="1395537"/>
                  <a:pt x="1490862" y="1395537"/>
                </a:cubicBezTo>
                <a:lnTo>
                  <a:pt x="1356037" y="1395537"/>
                </a:lnTo>
                <a:lnTo>
                  <a:pt x="1356037" y="724172"/>
                </a:lnTo>
                <a:cubicBezTo>
                  <a:pt x="1355170" y="719845"/>
                  <a:pt x="1354737" y="715515"/>
                  <a:pt x="1354737" y="711187"/>
                </a:cubicBezTo>
                <a:cubicBezTo>
                  <a:pt x="1354737" y="420305"/>
                  <a:pt x="1119336" y="183533"/>
                  <a:pt x="830616" y="183533"/>
                </a:cubicBezTo>
                <a:cubicBezTo>
                  <a:pt x="541461" y="183533"/>
                  <a:pt x="306062" y="420305"/>
                  <a:pt x="306062" y="711187"/>
                </a:cubicBezTo>
                <a:cubicBezTo>
                  <a:pt x="306062" y="714651"/>
                  <a:pt x="305627" y="717680"/>
                  <a:pt x="305195" y="721143"/>
                </a:cubicBezTo>
                <a:lnTo>
                  <a:pt x="305195" y="1395537"/>
                </a:lnTo>
                <a:lnTo>
                  <a:pt x="170373" y="1395537"/>
                </a:lnTo>
                <a:cubicBezTo>
                  <a:pt x="76299" y="1395537"/>
                  <a:pt x="0" y="1316756"/>
                  <a:pt x="0" y="1219796"/>
                </a:cubicBezTo>
                <a:lnTo>
                  <a:pt x="0" y="867882"/>
                </a:lnTo>
                <a:cubicBezTo>
                  <a:pt x="0" y="787804"/>
                  <a:pt x="51587" y="720710"/>
                  <a:pt x="122686" y="699066"/>
                </a:cubicBezTo>
                <a:cubicBezTo>
                  <a:pt x="129187" y="312524"/>
                  <a:pt x="443920" y="0"/>
                  <a:pt x="830616" y="0"/>
                </a:cubicBezTo>
                <a:close/>
              </a:path>
            </a:pathLst>
          </a:cu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64600" y="3302000"/>
            <a:ext cx="406400" cy="406400"/>
          </a:xfrm>
          <a:prstGeom prst="roundRect">
            <a:avLst>
              <a:gd name="adj" fmla="val 15625"/>
            </a:avLst>
          </a:prstGeom>
          <a:gradFill rotWithShape="0">
            <a:gsLst>
              <a:gs pos="0">
                <a:srgbClr val="34C759">
                  <a:alpha val="100000"/>
                </a:srgbClr>
              </a:gs>
              <a:gs pos="60000">
                <a:srgbClr val="1E883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1E883C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8979243" y="3441915"/>
            <a:ext cx="178002" cy="141741"/>
          </a:xfrm>
          <a:custGeom>
            <a:avLst/>
            <a:gdLst/>
            <a:ahLst/>
            <a:cxnLst/>
            <a:rect l="l" t="t" r="r" b="b"/>
            <a:pathLst>
              <a:path w="178002" h="141741">
                <a:moveTo>
                  <a:pt x="168112" y="0"/>
                </a:moveTo>
                <a:cubicBezTo>
                  <a:pt x="173585" y="0"/>
                  <a:pt x="178002" y="4417"/>
                  <a:pt x="178002" y="9889"/>
                </a:cubicBezTo>
                <a:lnTo>
                  <a:pt x="178002" y="112075"/>
                </a:lnTo>
                <a:cubicBezTo>
                  <a:pt x="178002" y="117546"/>
                  <a:pt x="173585" y="121963"/>
                  <a:pt x="168112" y="121963"/>
                </a:cubicBezTo>
                <a:lnTo>
                  <a:pt x="66158" y="121963"/>
                </a:lnTo>
                <a:lnTo>
                  <a:pt x="39588" y="141741"/>
                </a:lnTo>
                <a:lnTo>
                  <a:pt x="39588" y="121963"/>
                </a:lnTo>
                <a:lnTo>
                  <a:pt x="9889" y="121963"/>
                </a:lnTo>
                <a:cubicBezTo>
                  <a:pt x="4417" y="121963"/>
                  <a:pt x="0" y="117546"/>
                  <a:pt x="0" y="112075"/>
                </a:cubicBezTo>
                <a:lnTo>
                  <a:pt x="0" y="9889"/>
                </a:lnTo>
                <a:cubicBezTo>
                  <a:pt x="0" y="4417"/>
                  <a:pt x="4417" y="0"/>
                  <a:pt x="9889" y="0"/>
                </a:cubicBezTo>
                <a:lnTo>
                  <a:pt x="168112" y="0"/>
                </a:lnTo>
                <a:close/>
                <a:moveTo>
                  <a:pt x="42852" y="49445"/>
                </a:moveTo>
                <a:cubicBezTo>
                  <a:pt x="36491" y="49445"/>
                  <a:pt x="31316" y="54620"/>
                  <a:pt x="31316" y="60981"/>
                </a:cubicBezTo>
                <a:cubicBezTo>
                  <a:pt x="31316" y="67344"/>
                  <a:pt x="36491" y="72519"/>
                  <a:pt x="42852" y="72519"/>
                </a:cubicBezTo>
                <a:cubicBezTo>
                  <a:pt x="49214" y="72519"/>
                  <a:pt x="54390" y="67344"/>
                  <a:pt x="54390" y="60981"/>
                </a:cubicBezTo>
                <a:cubicBezTo>
                  <a:pt x="54390" y="54620"/>
                  <a:pt x="49214" y="49445"/>
                  <a:pt x="42852" y="49445"/>
                </a:cubicBezTo>
                <a:close/>
                <a:moveTo>
                  <a:pt x="89000" y="49445"/>
                </a:moveTo>
                <a:cubicBezTo>
                  <a:pt x="82639" y="49445"/>
                  <a:pt x="77464" y="54620"/>
                  <a:pt x="77464" y="60981"/>
                </a:cubicBezTo>
                <a:cubicBezTo>
                  <a:pt x="77464" y="67344"/>
                  <a:pt x="82639" y="72519"/>
                  <a:pt x="89000" y="72519"/>
                </a:cubicBezTo>
                <a:cubicBezTo>
                  <a:pt x="95363" y="72519"/>
                  <a:pt x="100538" y="67344"/>
                  <a:pt x="100538" y="60981"/>
                </a:cubicBezTo>
                <a:cubicBezTo>
                  <a:pt x="100538" y="54620"/>
                  <a:pt x="95363" y="49445"/>
                  <a:pt x="89000" y="49445"/>
                </a:cubicBezTo>
                <a:close/>
                <a:moveTo>
                  <a:pt x="135149" y="49445"/>
                </a:moveTo>
                <a:cubicBezTo>
                  <a:pt x="128787" y="49445"/>
                  <a:pt x="123613" y="54620"/>
                  <a:pt x="123613" y="60981"/>
                </a:cubicBezTo>
                <a:cubicBezTo>
                  <a:pt x="123613" y="67344"/>
                  <a:pt x="128787" y="72519"/>
                  <a:pt x="135149" y="72519"/>
                </a:cubicBezTo>
                <a:cubicBezTo>
                  <a:pt x="141511" y="72519"/>
                  <a:pt x="146686" y="67344"/>
                  <a:pt x="146686" y="60981"/>
                </a:cubicBezTo>
                <a:cubicBezTo>
                  <a:pt x="146686" y="54620"/>
                  <a:pt x="141511" y="49445"/>
                  <a:pt x="135149" y="4944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 rot="10800000" flipV="1">
            <a:off x="8001000" y="4267200"/>
            <a:ext cx="2159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软硬件一体化轻量化设计，性价比仅为进口产品的1/5-1/10；精准切入基层医疗场景，填补国内中低端药房自动化设备的市场空白，让高效服务触手可及。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3975100"/>
            <a:ext cx="2159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E883C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 创新方案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895600" y="3302000"/>
            <a:ext cx="406400" cy="406400"/>
          </a:xfrm>
          <a:prstGeom prst="roundRect">
            <a:avLst>
              <a:gd name="adj" fmla="val 15625"/>
            </a:avLst>
          </a:prstGeom>
          <a:gradFill rotWithShape="0">
            <a:gsLst>
              <a:gs pos="0">
                <a:srgbClr val="8E8E93">
                  <a:alpha val="100000"/>
                </a:srgbClr>
              </a:gs>
              <a:gs pos="60000">
                <a:srgbClr val="63636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63636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010103" y="3441907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178001" h="133500">
                <a:moveTo>
                  <a:pt x="168466" y="0"/>
                </a:moveTo>
                <a:cubicBezTo>
                  <a:pt x="173741" y="0"/>
                  <a:pt x="178001" y="4260"/>
                  <a:pt x="178001" y="9536"/>
                </a:cubicBezTo>
                <a:lnTo>
                  <a:pt x="178001" y="123965"/>
                </a:lnTo>
                <a:cubicBezTo>
                  <a:pt x="178001" y="129240"/>
                  <a:pt x="173741" y="133500"/>
                  <a:pt x="168466" y="133500"/>
                </a:cubicBezTo>
                <a:lnTo>
                  <a:pt x="9535" y="133500"/>
                </a:lnTo>
                <a:cubicBezTo>
                  <a:pt x="4259" y="133500"/>
                  <a:pt x="0" y="129240"/>
                  <a:pt x="0" y="123965"/>
                </a:cubicBezTo>
                <a:lnTo>
                  <a:pt x="0" y="9536"/>
                </a:lnTo>
                <a:cubicBezTo>
                  <a:pt x="0" y="4260"/>
                  <a:pt x="4259" y="0"/>
                  <a:pt x="9535" y="0"/>
                </a:cubicBezTo>
                <a:lnTo>
                  <a:pt x="168466" y="0"/>
                </a:lnTo>
                <a:close/>
                <a:moveTo>
                  <a:pt x="130418" y="66083"/>
                </a:moveTo>
                <a:cubicBezTo>
                  <a:pt x="126222" y="62904"/>
                  <a:pt x="120246" y="63730"/>
                  <a:pt x="117068" y="67926"/>
                </a:cubicBezTo>
                <a:lnTo>
                  <a:pt x="117068" y="67926"/>
                </a:lnTo>
                <a:lnTo>
                  <a:pt x="88937" y="105115"/>
                </a:lnTo>
                <a:cubicBezTo>
                  <a:pt x="88682" y="105465"/>
                  <a:pt x="88396" y="105752"/>
                  <a:pt x="88110" y="106069"/>
                </a:cubicBezTo>
                <a:cubicBezTo>
                  <a:pt x="84423" y="109819"/>
                  <a:pt x="78385" y="109851"/>
                  <a:pt x="74633" y="106164"/>
                </a:cubicBezTo>
                <a:lnTo>
                  <a:pt x="74633" y="106164"/>
                </a:lnTo>
                <a:lnTo>
                  <a:pt x="53909" y="85695"/>
                </a:lnTo>
                <a:cubicBezTo>
                  <a:pt x="53686" y="85504"/>
                  <a:pt x="53495" y="85282"/>
                  <a:pt x="53273" y="85123"/>
                </a:cubicBezTo>
                <a:cubicBezTo>
                  <a:pt x="49205" y="81784"/>
                  <a:pt x="43197" y="82357"/>
                  <a:pt x="39859" y="86426"/>
                </a:cubicBezTo>
                <a:lnTo>
                  <a:pt x="39859" y="86426"/>
                </a:lnTo>
                <a:lnTo>
                  <a:pt x="10648" y="121962"/>
                </a:lnTo>
                <a:cubicBezTo>
                  <a:pt x="10172" y="122535"/>
                  <a:pt x="9918" y="123233"/>
                  <a:pt x="9918" y="123965"/>
                </a:cubicBezTo>
                <a:cubicBezTo>
                  <a:pt x="9918" y="125712"/>
                  <a:pt x="11348" y="127144"/>
                  <a:pt x="13095" y="127144"/>
                </a:cubicBezTo>
                <a:lnTo>
                  <a:pt x="13095" y="127144"/>
                </a:lnTo>
                <a:lnTo>
                  <a:pt x="165731" y="127144"/>
                </a:lnTo>
                <a:cubicBezTo>
                  <a:pt x="166368" y="127144"/>
                  <a:pt x="166971" y="126953"/>
                  <a:pt x="167480" y="126603"/>
                </a:cubicBezTo>
                <a:cubicBezTo>
                  <a:pt x="168942" y="125617"/>
                  <a:pt x="169323" y="123647"/>
                  <a:pt x="168369" y="122184"/>
                </a:cubicBezTo>
                <a:lnTo>
                  <a:pt x="168369" y="122184"/>
                </a:lnTo>
                <a:lnTo>
                  <a:pt x="132611" y="68372"/>
                </a:lnTo>
                <a:cubicBezTo>
                  <a:pt x="132007" y="67513"/>
                  <a:pt x="131275" y="66718"/>
                  <a:pt x="130418" y="66083"/>
                </a:cubicBezTo>
                <a:close/>
                <a:moveTo>
                  <a:pt x="31786" y="19072"/>
                </a:moveTo>
                <a:cubicBezTo>
                  <a:pt x="24761" y="19072"/>
                  <a:pt x="19072" y="24761"/>
                  <a:pt x="19072" y="31786"/>
                </a:cubicBezTo>
                <a:cubicBezTo>
                  <a:pt x="19072" y="38810"/>
                  <a:pt x="24761" y="44501"/>
                  <a:pt x="31786" y="44501"/>
                </a:cubicBezTo>
                <a:cubicBezTo>
                  <a:pt x="38810" y="44501"/>
                  <a:pt x="44500" y="38810"/>
                  <a:pt x="44500" y="31786"/>
                </a:cubicBezTo>
                <a:cubicBezTo>
                  <a:pt x="44500" y="24761"/>
                  <a:pt x="38810" y="19072"/>
                  <a:pt x="31786" y="1907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 rot="10800000" flipV="1">
            <a:off x="2032000" y="4267200"/>
            <a:ext cx="2159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依托成熟技术与高品牌认知度占据头部，但设备造价高昂（数十万至百万级）、体积庞大且部署周期漫长，服务重心集中于大型医院，难以适配基层市场的实际需求。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3975100"/>
            <a:ext cx="2159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4A4A4F"/>
                </a:solidFill>
                <a:latin typeface="微软雅黑"/>
                <a:ea typeface="微软雅黑"/>
                <a:cs typeface="微软雅黑"/>
                <a:sym typeface="微软雅黑"/>
              </a:rPr>
              <a:t>高端市场传统竞争者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 rot="10800000" flipV="1">
            <a:off x="660400" y="5461000"/>
            <a:ext cx="1092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/>
                <a:ea typeface="微软雅黑"/>
                <a:cs typeface="微软雅黑"/>
                <a:sym typeface="微软雅黑"/>
              </a:rPr>
              <a:t>通过避开与国际巨头的正面竞争，PharmacyBot以轻量化、低成本的创新模式精准切入基层医疗市场，不仅有效控制了实施成本，更填补了国内中低端药房自动化设备的供给缺口，为基层医疗服务的智能化升级提供了高可行性的落地解决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79600" y="1244600"/>
            <a:ext cx="840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市场定位与核心差异对比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差异化竞争策略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1130300"/>
            <a:ext cx="2819400" cy="5003800"/>
          </a:xfrm>
          <a:prstGeom prst="roundRect">
            <a:avLst>
              <a:gd name="adj" fmla="val 7657"/>
            </a:avLst>
          </a:prstGeom>
          <a:blipFill>
            <a:blip r:embed="rId4"/>
            <a:stretch>
              <a:fillRect l="-100000"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7084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5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754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6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0551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5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810000" y="1206500"/>
            <a:ext cx="3263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多元化盈利模式体系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10800000" flipV="1">
            <a:off x="3695700" y="1206500"/>
            <a:ext cx="114300" cy="736600"/>
          </a:xfrm>
          <a:prstGeom prst="roundRect">
            <a:avLst>
              <a:gd name="adj" fmla="val 44444"/>
            </a:avLst>
          </a:prstGeom>
          <a:gradFill rotWithShape="0">
            <a:gsLst>
              <a:gs pos="0">
                <a:srgbClr val="69BB84">
                  <a:alpha val="100000"/>
                </a:srgbClr>
              </a:gs>
              <a:gs pos="6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提供智能终端整机销售或轻量化租赁模式，大幅降低B端客户的初始资金投入门槛，助力药房与药企以更低成本快速完成数字化设备的落地部署。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754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依托云端技术提供AI智能药师、库存动态管理等核心增值功能，采用灵活的订阅收费模式，既提升客户运营效率，也为平台带来稳定可持续的经营性收入。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662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包含自动化订单技术服务费与合规脱敏数据服务，基于真实市场数据为药企提供行业趋势洞察，在赋能合作伙伴业务决策的同时，有效拓展平台盈利边界。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10763622">
            <a:off x="3708366" y="60706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BEA15E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10763622">
            <a:off x="6464266" y="60579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9B4300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Connector 18"/>
          <p:cNvCxnSpPr/>
          <p:nvPr/>
        </p:nvCxnSpPr>
        <p:spPr>
          <a:xfrm rot="10763622">
            <a:off x="9131266" y="60325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FAD041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B2B2C价值生态与盈利模式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市场策略与渠道布局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4100" y="1295400"/>
            <a:ext cx="52451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核心布局三大维度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4100" y="1816100"/>
            <a:ext cx="52451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精准定位客户群体，实施全渠道覆盖，强化品牌行业影响力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76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351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D8C79E">
                  <a:alpha val="100000"/>
                </a:srgbClr>
              </a:gs>
              <a:gs pos="6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BEA15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575031" y="3238736"/>
            <a:ext cx="203129" cy="152345"/>
          </a:xfrm>
          <a:custGeom>
            <a:avLst/>
            <a:gdLst/>
            <a:ahLst/>
            <a:cxnLst/>
            <a:rect l="l" t="t" r="r" b="b"/>
            <a:pathLst>
              <a:path w="203129" h="152345">
                <a:moveTo>
                  <a:pt x="192246" y="0"/>
                </a:moveTo>
                <a:cubicBezTo>
                  <a:pt x="198269" y="0"/>
                  <a:pt x="203129" y="4862"/>
                  <a:pt x="203129" y="10883"/>
                </a:cubicBezTo>
                <a:lnTo>
                  <a:pt x="203129" y="141464"/>
                </a:lnTo>
                <a:cubicBezTo>
                  <a:pt x="203129" y="147485"/>
                  <a:pt x="198269" y="152346"/>
                  <a:pt x="192246" y="152346"/>
                </a:cubicBezTo>
                <a:lnTo>
                  <a:pt x="10883" y="152346"/>
                </a:lnTo>
                <a:cubicBezTo>
                  <a:pt x="4860" y="152346"/>
                  <a:pt x="0" y="147485"/>
                  <a:pt x="0" y="141464"/>
                </a:cubicBezTo>
                <a:lnTo>
                  <a:pt x="0" y="10883"/>
                </a:lnTo>
                <a:cubicBezTo>
                  <a:pt x="0" y="4862"/>
                  <a:pt x="4860" y="0"/>
                  <a:pt x="10883" y="0"/>
                </a:cubicBezTo>
                <a:lnTo>
                  <a:pt x="192246" y="0"/>
                </a:lnTo>
                <a:close/>
                <a:moveTo>
                  <a:pt x="148828" y="75412"/>
                </a:moveTo>
                <a:cubicBezTo>
                  <a:pt x="144040" y="71784"/>
                  <a:pt x="137221" y="72727"/>
                  <a:pt x="133594" y="77515"/>
                </a:cubicBezTo>
                <a:lnTo>
                  <a:pt x="133594" y="77515"/>
                </a:lnTo>
                <a:lnTo>
                  <a:pt x="101492" y="119954"/>
                </a:lnTo>
                <a:cubicBezTo>
                  <a:pt x="101201" y="120353"/>
                  <a:pt x="100875" y="120679"/>
                  <a:pt x="100549" y="121043"/>
                </a:cubicBezTo>
                <a:cubicBezTo>
                  <a:pt x="96341" y="125323"/>
                  <a:pt x="89450" y="125358"/>
                  <a:pt x="85169" y="121151"/>
                </a:cubicBezTo>
                <a:lnTo>
                  <a:pt x="85169" y="121151"/>
                </a:lnTo>
                <a:lnTo>
                  <a:pt x="61519" y="97791"/>
                </a:lnTo>
                <a:cubicBezTo>
                  <a:pt x="61265" y="97574"/>
                  <a:pt x="61048" y="97320"/>
                  <a:pt x="60794" y="97139"/>
                </a:cubicBezTo>
                <a:cubicBezTo>
                  <a:pt x="56151" y="93330"/>
                  <a:pt x="49295" y="93983"/>
                  <a:pt x="45486" y="98626"/>
                </a:cubicBezTo>
                <a:lnTo>
                  <a:pt x="45486" y="98626"/>
                </a:lnTo>
                <a:lnTo>
                  <a:pt x="12151" y="139178"/>
                </a:lnTo>
                <a:cubicBezTo>
                  <a:pt x="11608" y="139831"/>
                  <a:pt x="11317" y="140630"/>
                  <a:pt x="11317" y="141464"/>
                </a:cubicBezTo>
                <a:cubicBezTo>
                  <a:pt x="11317" y="143459"/>
                  <a:pt x="12950" y="145091"/>
                  <a:pt x="14945" y="145091"/>
                </a:cubicBezTo>
                <a:lnTo>
                  <a:pt x="14945" y="145091"/>
                </a:lnTo>
                <a:lnTo>
                  <a:pt x="189127" y="145091"/>
                </a:lnTo>
                <a:cubicBezTo>
                  <a:pt x="189852" y="145091"/>
                  <a:pt x="190542" y="144873"/>
                  <a:pt x="191122" y="144474"/>
                </a:cubicBezTo>
                <a:cubicBezTo>
                  <a:pt x="192791" y="143350"/>
                  <a:pt x="193226" y="141101"/>
                  <a:pt x="192137" y="139432"/>
                </a:cubicBezTo>
                <a:lnTo>
                  <a:pt x="192137" y="139432"/>
                </a:lnTo>
                <a:lnTo>
                  <a:pt x="151331" y="78023"/>
                </a:lnTo>
                <a:cubicBezTo>
                  <a:pt x="150641" y="77043"/>
                  <a:pt x="149807" y="76137"/>
                  <a:pt x="148828" y="75412"/>
                </a:cubicBezTo>
                <a:close/>
                <a:moveTo>
                  <a:pt x="36274" y="21764"/>
                </a:moveTo>
                <a:cubicBezTo>
                  <a:pt x="28258" y="21764"/>
                  <a:pt x="21764" y="28256"/>
                  <a:pt x="21764" y="36273"/>
                </a:cubicBezTo>
                <a:cubicBezTo>
                  <a:pt x="21764" y="44289"/>
                  <a:pt x="28258" y="50782"/>
                  <a:pt x="36274" y="50782"/>
                </a:cubicBezTo>
                <a:cubicBezTo>
                  <a:pt x="44290" y="50782"/>
                  <a:pt x="50782" y="44289"/>
                  <a:pt x="50782" y="36273"/>
                </a:cubicBezTo>
                <a:cubicBezTo>
                  <a:pt x="50782" y="28256"/>
                  <a:pt x="44290" y="21764"/>
                  <a:pt x="36274" y="2176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066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目标用户精准定位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066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精准锚定连锁药店、基层医疗机构、O2O医药平台前置仓三大核心客户群体，基于场景化需求完成用户画像与市场细分，实现业务的针对性切入。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32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0292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169319" y="3213332"/>
            <a:ext cx="185308" cy="203128"/>
          </a:xfrm>
          <a:custGeom>
            <a:avLst/>
            <a:gdLst/>
            <a:ahLst/>
            <a:cxnLst/>
            <a:rect l="l" t="t" r="r" b="b"/>
            <a:pathLst>
              <a:path w="185308" h="203128">
                <a:moveTo>
                  <a:pt x="92654" y="0"/>
                </a:moveTo>
                <a:cubicBezTo>
                  <a:pt x="143828" y="0"/>
                  <a:pt x="185308" y="41481"/>
                  <a:pt x="185308" y="92656"/>
                </a:cubicBezTo>
                <a:cubicBezTo>
                  <a:pt x="185308" y="134029"/>
                  <a:pt x="158189" y="169096"/>
                  <a:pt x="120735" y="180998"/>
                </a:cubicBezTo>
                <a:lnTo>
                  <a:pt x="129395" y="196001"/>
                </a:lnTo>
                <a:lnTo>
                  <a:pt x="156799" y="196001"/>
                </a:lnTo>
                <a:lnTo>
                  <a:pt x="156799" y="203128"/>
                </a:lnTo>
                <a:lnTo>
                  <a:pt x="28509" y="203128"/>
                </a:lnTo>
                <a:lnTo>
                  <a:pt x="28509" y="196001"/>
                </a:lnTo>
                <a:lnTo>
                  <a:pt x="55913" y="196001"/>
                </a:lnTo>
                <a:lnTo>
                  <a:pt x="64573" y="180998"/>
                </a:lnTo>
                <a:cubicBezTo>
                  <a:pt x="27120" y="169096"/>
                  <a:pt x="0" y="134029"/>
                  <a:pt x="0" y="92656"/>
                </a:cubicBezTo>
                <a:cubicBezTo>
                  <a:pt x="0" y="41481"/>
                  <a:pt x="41481" y="0"/>
                  <a:pt x="92654" y="0"/>
                </a:cubicBezTo>
                <a:close/>
                <a:moveTo>
                  <a:pt x="71700" y="182922"/>
                </a:moveTo>
                <a:lnTo>
                  <a:pt x="64145" y="196001"/>
                </a:lnTo>
                <a:lnTo>
                  <a:pt x="121163" y="196001"/>
                </a:lnTo>
                <a:lnTo>
                  <a:pt x="113608" y="182922"/>
                </a:lnTo>
                <a:cubicBezTo>
                  <a:pt x="106873" y="184491"/>
                  <a:pt x="99853" y="185310"/>
                  <a:pt x="92654" y="185310"/>
                </a:cubicBezTo>
                <a:cubicBezTo>
                  <a:pt x="85456" y="185310"/>
                  <a:pt x="78435" y="184491"/>
                  <a:pt x="71700" y="182922"/>
                </a:cubicBezTo>
                <a:close/>
                <a:moveTo>
                  <a:pt x="92654" y="53455"/>
                </a:moveTo>
                <a:cubicBezTo>
                  <a:pt x="70987" y="53455"/>
                  <a:pt x="53454" y="70988"/>
                  <a:pt x="53454" y="92656"/>
                </a:cubicBezTo>
                <a:cubicBezTo>
                  <a:pt x="53454" y="114322"/>
                  <a:pt x="70987" y="131856"/>
                  <a:pt x="92654" y="131856"/>
                </a:cubicBezTo>
                <a:cubicBezTo>
                  <a:pt x="114320" y="131856"/>
                  <a:pt x="131854" y="114322"/>
                  <a:pt x="131854" y="92656"/>
                </a:cubicBezTo>
                <a:cubicBezTo>
                  <a:pt x="131854" y="70988"/>
                  <a:pt x="114320" y="53455"/>
                  <a:pt x="92654" y="53455"/>
                </a:cubicBezTo>
                <a:close/>
                <a:moveTo>
                  <a:pt x="137199" y="42764"/>
                </a:moveTo>
                <a:cubicBezTo>
                  <a:pt x="134242" y="42764"/>
                  <a:pt x="131854" y="45151"/>
                  <a:pt x="131854" y="48109"/>
                </a:cubicBezTo>
                <a:cubicBezTo>
                  <a:pt x="131854" y="51067"/>
                  <a:pt x="134242" y="53455"/>
                  <a:pt x="137199" y="53455"/>
                </a:cubicBezTo>
                <a:cubicBezTo>
                  <a:pt x="140157" y="53455"/>
                  <a:pt x="142545" y="51067"/>
                  <a:pt x="142545" y="48109"/>
                </a:cubicBezTo>
                <a:cubicBezTo>
                  <a:pt x="142545" y="45151"/>
                  <a:pt x="140157" y="42764"/>
                  <a:pt x="137199" y="4276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6388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立体化渠道策略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388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打造“直营标杆+区域代理+平台生态”四位一体的渠道体系，以直营树立标准，代理拓宽广度，平台链接终端，形成快速覆盖市场的高效通路。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88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852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8724749" y="3226040"/>
            <a:ext cx="203811" cy="169106"/>
          </a:xfrm>
          <a:custGeom>
            <a:avLst/>
            <a:gdLst/>
            <a:ahLst/>
            <a:cxnLst/>
            <a:rect l="l" t="t" r="r" b="b"/>
            <a:pathLst>
              <a:path w="203811" h="169106">
                <a:moveTo>
                  <a:pt x="186789" y="51467"/>
                </a:moveTo>
                <a:cubicBezTo>
                  <a:pt x="196201" y="51467"/>
                  <a:pt x="203811" y="59077"/>
                  <a:pt x="203811" y="68487"/>
                </a:cubicBezTo>
                <a:cubicBezTo>
                  <a:pt x="203811" y="68929"/>
                  <a:pt x="203811" y="69370"/>
                  <a:pt x="203774" y="69811"/>
                </a:cubicBezTo>
                <a:lnTo>
                  <a:pt x="198627" y="136865"/>
                </a:lnTo>
                <a:cubicBezTo>
                  <a:pt x="198186" y="142601"/>
                  <a:pt x="193407" y="147048"/>
                  <a:pt x="187635" y="147048"/>
                </a:cubicBezTo>
                <a:lnTo>
                  <a:pt x="175760" y="147048"/>
                </a:lnTo>
                <a:lnTo>
                  <a:pt x="175760" y="169106"/>
                </a:lnTo>
                <a:lnTo>
                  <a:pt x="168408" y="169106"/>
                </a:lnTo>
                <a:lnTo>
                  <a:pt x="168408" y="147048"/>
                </a:lnTo>
                <a:lnTo>
                  <a:pt x="36064" y="147048"/>
                </a:lnTo>
                <a:lnTo>
                  <a:pt x="36064" y="169106"/>
                </a:lnTo>
                <a:lnTo>
                  <a:pt x="28711" y="169106"/>
                </a:lnTo>
                <a:lnTo>
                  <a:pt x="28711" y="147048"/>
                </a:lnTo>
                <a:lnTo>
                  <a:pt x="16874" y="147048"/>
                </a:lnTo>
                <a:cubicBezTo>
                  <a:pt x="11102" y="147048"/>
                  <a:pt x="6323" y="142601"/>
                  <a:pt x="5881" y="136865"/>
                </a:cubicBezTo>
                <a:lnTo>
                  <a:pt x="735" y="69811"/>
                </a:lnTo>
                <a:cubicBezTo>
                  <a:pt x="0" y="60437"/>
                  <a:pt x="7022" y="52239"/>
                  <a:pt x="16396" y="51540"/>
                </a:cubicBezTo>
                <a:cubicBezTo>
                  <a:pt x="16836" y="51504"/>
                  <a:pt x="17278" y="51504"/>
                  <a:pt x="17719" y="51504"/>
                </a:cubicBezTo>
                <a:cubicBezTo>
                  <a:pt x="28381" y="51504"/>
                  <a:pt x="37533" y="59077"/>
                  <a:pt x="39483" y="69554"/>
                </a:cubicBezTo>
                <a:lnTo>
                  <a:pt x="47093" y="110287"/>
                </a:lnTo>
                <a:lnTo>
                  <a:pt x="157380" y="110287"/>
                </a:lnTo>
                <a:lnTo>
                  <a:pt x="165026" y="69517"/>
                </a:lnTo>
                <a:cubicBezTo>
                  <a:pt x="166974" y="59040"/>
                  <a:pt x="176129" y="51467"/>
                  <a:pt x="186789" y="51467"/>
                </a:cubicBezTo>
                <a:close/>
                <a:moveTo>
                  <a:pt x="161056" y="0"/>
                </a:moveTo>
                <a:cubicBezTo>
                  <a:pt x="175283" y="0"/>
                  <a:pt x="186789" y="11506"/>
                  <a:pt x="186789" y="25733"/>
                </a:cubicBezTo>
                <a:lnTo>
                  <a:pt x="186789" y="44298"/>
                </a:lnTo>
                <a:cubicBezTo>
                  <a:pt x="185871" y="44188"/>
                  <a:pt x="184951" y="44115"/>
                  <a:pt x="184032" y="44115"/>
                </a:cubicBezTo>
                <a:cubicBezTo>
                  <a:pt x="172085" y="44115"/>
                  <a:pt x="161792" y="52423"/>
                  <a:pt x="159180" y="64003"/>
                </a:cubicBezTo>
                <a:lnTo>
                  <a:pt x="158998" y="64884"/>
                </a:lnTo>
                <a:lnTo>
                  <a:pt x="151865" y="102934"/>
                </a:lnTo>
                <a:lnTo>
                  <a:pt x="52607" y="102934"/>
                </a:lnTo>
                <a:lnTo>
                  <a:pt x="45475" y="64884"/>
                </a:lnTo>
                <a:cubicBezTo>
                  <a:pt x="43232" y="52827"/>
                  <a:pt x="32681" y="44115"/>
                  <a:pt x="20439" y="44115"/>
                </a:cubicBezTo>
                <a:lnTo>
                  <a:pt x="21359" y="25733"/>
                </a:lnTo>
                <a:cubicBezTo>
                  <a:pt x="21359" y="11506"/>
                  <a:pt x="32865" y="0"/>
                  <a:pt x="47093" y="0"/>
                </a:cubicBezTo>
                <a:lnTo>
                  <a:pt x="161056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075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品牌声量体系构建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深度参与行业顶级展会，深化产学研医跨界合作，持续输出专业价值与行业洞察，稳步提升品牌在医药健康领域的专业辨识度与市场公信力。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06.团队介绍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t>专业交叉、分工明确的本科生科创团队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EBEE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273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273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/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542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5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8992">
            <a:off x="2400318" y="4616450"/>
            <a:ext cx="2298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831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2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/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769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9098">
            <a:off x="6223018" y="46164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009900" y="1371600"/>
            <a:ext cx="6184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72700" y="4203700"/>
            <a:ext cx="1778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72700" y="4787900"/>
            <a:ext cx="177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996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4731">
            <a:off x="10045723" y="4616450"/>
            <a:ext cx="1765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746500" y="2082800"/>
            <a:ext cx="4699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</p:txBody>
      </p:sp>
      <p:sp>
        <p:nvSpPr>
          <p:cNvPr id="22" name="TextBox 21"/>
          <p:cNvSpPr txBox="1"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核心团队介绍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" y="1155700"/>
            <a:ext cx="108585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6464"/>
                </a:solidFill>
              </a:defRPr>
            </a:pPr>
            <a:r>
              <a:t>专业高度匹配、分工明确的本科生科创团队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400" y="1800000"/>
            <a:ext cx="3400000" cy="40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硬件与软件研发组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400" y="23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64C8"/>
                </a:solidFill>
              </a:defRPr>
            </a:pPr>
            <a:r>
              <a:t>熊鑫、潘妙奇、问文娟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00" y="28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050"/>
                </a:solidFill>
              </a:defRPr>
            </a:pPr>
            <a:r>
              <a:t>负责机械臂软硬件调试、嵌入式开发、运动算法优化及系统联调，保障设备稳定运行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0400" y="1800000"/>
            <a:ext cx="3400000" cy="40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市场与商业规划组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0400" y="23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64C8"/>
                </a:solidFill>
              </a:defRPr>
            </a:pPr>
            <a:r>
              <a:t>朱济震、常宇璇、李星瀚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0400" y="28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050"/>
                </a:solidFill>
              </a:defRPr>
            </a:pPr>
            <a:r>
              <a:t>负责市场调研、竞品分析、商业模式设计及商业计划书撰写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0400" y="1800000"/>
            <a:ext cx="3400000" cy="400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04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设计与展示组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0400" y="23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64C8"/>
                </a:solidFill>
              </a:defRPr>
            </a:pPr>
            <a:r>
              <a:t>石灵子、赵玉佳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0400" y="28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050"/>
                </a:solidFill>
              </a:defRPr>
            </a:pPr>
            <a:r>
              <a:t>专注项目PPT设计与制作、技术亮点可视化呈现与项目展示传播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400" y="6000000"/>
            <a:ext cx="10858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7878"/>
                </a:solidFill>
              </a:defRPr>
            </a:pPr>
            <a:r>
              <a:t>团队成员全部来自计算机科学与技术、物联网工程、网络工程专业  |  多次参与互联网+、挑战杯等高水平竞赛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07.财务规划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t>三阶段财务模型与多元化盈利结构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8E7EF0">
              <a:alpha val="47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">
            <a:off x="0" y="1612900"/>
            <a:ext cx="3683000" cy="3683000"/>
          </a:xfrm>
          <a:prstGeom prst="ellipse">
            <a:avLst/>
          </a:prstGeom>
          <a:gradFill rotWithShape="0">
            <a:gsLst>
              <a:gs pos="0">
                <a:srgbClr val="F7F7E7">
                  <a:alpha val="0"/>
                </a:srgbClr>
              </a:gs>
              <a:gs pos="60000">
                <a:srgbClr val="E8E6B7">
                  <a:alpha val="32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2476500"/>
            <a:ext cx="108585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依托智能化技术与算法模型，对传统医药分拣流程进行全面数字化升级，在作业精度、处理速度、风险控制及社会价值维度均达成行业领先标准。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282700"/>
            <a:ext cx="10858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三阶段财务模型与多元化盈利结构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7380000">
            <a:off x="10375900" y="698500"/>
            <a:ext cx="1485900" cy="14859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049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10B981">
                  <a:alpha val="100000"/>
                </a:srgbClr>
              </a:gs>
              <a:gs pos="60000">
                <a:srgbClr val="047857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047857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t>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034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第三阶段：规模盈利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034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全国布局完成，硬件+软件+数据协同发力，全面盈利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167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8B5CF6">
                  <a:alpha val="100000"/>
                </a:srgbClr>
              </a:gs>
              <a:gs pos="60000">
                <a:srgbClr val="6D28D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6D28D9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t>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152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盈利模式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152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覆盖全国68万零售药店与超105万基层医疗机构，缓解基层药师缺口，提升用药安全与医疗可及性。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049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3B82F6">
                  <a:alpha val="100000"/>
                </a:srgbClr>
              </a:gs>
              <a:gs pos="60000">
                <a:srgbClr val="1E40A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1E40AF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t>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034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第一阶段：试点验证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8034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聚焦区域标杆建设，收入以硬件销售为主，研发投入集中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722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167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97316">
                  <a:alpha val="100000"/>
                </a:srgbClr>
              </a:gs>
              <a:gs pos="60000">
                <a:srgbClr val="C2410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C2410C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t>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152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第二阶段：复制扩张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152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硬件量产+渠道拓展，SaaS订阅与运维服务形成稳定收入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t>财务预测概览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面临的挑战与风险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1155700"/>
            <a:ext cx="10845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t>五大核心风险与应对策略全景分析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843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D8C79E">
                  <a:alpha val="100000"/>
                </a:srgbClr>
              </a:gs>
              <a:gs pos="6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BEA15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764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政策风险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AI辅助咨询的法律边界、处方药流转合规性及医保对接是项目生命线。系统严守健康咨询与用药科普定位，内嵌国家药典规则图谱，高危症状秒级熔断并强制引导就医，全链路合规备案溯源。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1689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4610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基层商户决策周期长、对固定资产投入敏感。推行硬件租赁+SaaS订阅+订单抽成柔性方案，以ROI账单展示降本事实；聚焦夜间无人值守刚需场景，错位竞争打造样板效应；深度接入O2O平台生态形成排他性壁垒。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662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2583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技术风险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t>AI大模型幻觉与视觉误读是零容忍风险。AI仅负责意图理解，发药控制权归本地确定性算法；设置出舱前三模态交叉验证（扫码+OCR+称重），机械臂集成力矩自适应机制防破损，内置自动重试与异常自愈流程。</a:t>
            </a:r>
            <a:endParaRPr lang="en-US" sz="1100"/>
          </a:p>
        </p:txBody>
      </p:sp>
      <p:sp>
        <p:nvSpPr>
          <p:cNvPr id="18" name="TextBox 17"/>
          <p:cNvSpPr txBox="1"/>
          <p:nvPr/>
        </p:nvSpPr>
        <p:spPr>
          <a:xfrm>
            <a:off x="660400" y="6100000"/>
            <a:ext cx="10858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财务风险：硬件铺货需大额资金垫支，采用以销定产+轻资产委外代工模式，拓展供应链金融与融资租赁，以高毛利SaaS续费对冲硬件波动。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" y="6350000"/>
            <a:ext cx="10858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用户风险：老年用户畏难与夜间无人值守场景，采用全语音对话+大字体长辈模式、一键呼叫云端药师、内置环境监控与断电保护，确保服务永续。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未来发展规划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130300"/>
            <a:ext cx="812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基层智慧药房发展三步走战略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968500"/>
            <a:ext cx="10858500" cy="279400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60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 rot="-5495468">
            <a:off x="1701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B4300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0" name="AutoShape 10"/>
          <p:cNvSpPr/>
          <p:nvPr/>
        </p:nvSpPr>
        <p:spPr>
          <a:xfrm>
            <a:off x="914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短期目标 (1-2年)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聚焦区域市场开展深度探索，重点打造标准化示范样板店，通过真实场景运营验证产品核心价值。以此树立行业标杆案例，为后续业务拓展积累成功经验与市场口碑。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62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13"/>
          <p:cNvCxnSpPr/>
          <p:nvPr/>
        </p:nvCxnSpPr>
        <p:spPr>
          <a:xfrm rot="-5495468">
            <a:off x="5003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AD041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4" name="AutoShape 14"/>
          <p:cNvSpPr/>
          <p:nvPr/>
        </p:nvSpPr>
        <p:spPr>
          <a:xfrm>
            <a:off x="4216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中期目标 (3-5年)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16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依托前期打磨成熟的渠道合作体系加速市场渗透，大幅提升市场覆盖率。同时快速扩大智能药房设备的部署规模，完成业务版图的规模化扩张，实现从点到面的市场突破。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69BB84">
                  <a:alpha val="100000"/>
                </a:srgbClr>
              </a:gs>
              <a:gs pos="5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7" name="Connector 17"/>
          <p:cNvCxnSpPr/>
          <p:nvPr/>
        </p:nvCxnSpPr>
        <p:spPr>
          <a:xfrm rot="-5495468">
            <a:off x="8305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6640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8" name="AutoShape 18"/>
          <p:cNvSpPr/>
          <p:nvPr/>
        </p:nvSpPr>
        <p:spPr>
          <a:xfrm>
            <a:off x="7518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长期目标 (5年以上)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18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成为基层智慧药房领域的绝对领导者，实现全业务链条的全面盈利。在此基础上，持续探索技术与服务的深度延伸，布局创新业务模式，为行业发展开拓新的增长曲线与价值空间。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22000">
              <a:srgbClr val="987C3D">
                <a:alpha val="100000"/>
              </a:srgbClr>
            </a:gs>
            <a:gs pos="99000">
              <a:srgbClr val="BEA15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70700" y="4178300"/>
            <a:ext cx="546100" cy="546100"/>
          </a:xfrm>
          <a:prstGeom prst="ellipse">
            <a:avLst/>
          </a:prstGeom>
          <a:gradFill rotWithShape="0">
            <a:gsLst>
              <a:gs pos="0">
                <a:srgbClr val="9B4300">
                  <a:alpha val="100000"/>
                </a:srgbClr>
              </a:gs>
              <a:gs pos="98000">
                <a:srgbClr val="9B4300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715000" y="1714500"/>
            <a:ext cx="6096000" cy="246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4127500"/>
            <a:ext cx="635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期待与您携手，共创智慧药房新未来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56134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智慧药房项目组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56134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 Strategic Report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Office PowerPoint</Application>
  <PresentationFormat>宽屏</PresentationFormat>
  <Paragraphs>197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Noto Sans SC</vt:lpstr>
      <vt:lpstr>微软雅黑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 Juan Wen</dc:creator>
  <cp:lastModifiedBy>鑫 熊</cp:lastModifiedBy>
  <cp:revision>1</cp:revision>
  <dcterms:modified xsi:type="dcterms:W3CDTF">2026-05-30T05:20:16Z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{"Label":"1","ContentProducer":"001191110102MACQD9K64010000","ProduceID":"7645490068215450803","ReservedCode1":"","ContentPropagator":"","PropagateID":"","ReservedCode2":""}</vt:lpwstr>
  </property>
</Properties>
</file>