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286000"/>
            <a:ext cx="3657600" cy="36576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智臂药师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药房机械臂系统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语音问诊 → AI 诊断 → 视觉定位 → 机械臂分拣 → 全链路自动化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3749040"/>
            <a:ext cx="2743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互联网+ 大学生创新创业大赛  |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市场痛点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2344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药房行业现状与核心问题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49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17373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技术架构与核心创新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0116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产品展示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2402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功能演示与性能数据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51460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2496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竞品优势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2743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差异化竞争力分析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01752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团队能力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3246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核心成员与项目经验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5204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3502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3749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盈利模式与市场策略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0233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156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未来规划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51560" y="4251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产品路线图与发展愿景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0" y="457200"/>
            <a:ext cx="3657600" cy="3657600"/>
          </a:xfrm>
          <a:prstGeom prst="ellipse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市场痛点：传统药房面临的核心挑战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298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人力成本高企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17320" y="15727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药剂师日均处理300+处方，重复性分拣占工作时长40%，全国药房年人力成本超2000亿元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1460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2487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用药安全风险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417320" y="27614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每年因人为配药错误导致的医疗事故约27万例，其中30%可通过自动化规避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03320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3675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夜间服务缺失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417320" y="39502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全国超60%药店无法提供24h服务，夜间急用药需求难以满足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市场规模与自动化机遇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972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62.7万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全国零售药店总数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103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(2024年国家药监局数据)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0972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9184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5,800亿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29184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药品零售市场规模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91840" y="2103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年复合增长率 6.2%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10972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&lt;3%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12648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药房自动化渗透率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26480" y="2103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远低于欧美 25-40%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CCFBF1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7180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80160" y="29260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核心洞察：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中国药房自动化市场处于爆发前夜。人口老龄化 + 劳动力成本上升 + AI技术成熟，三重驱动力叠加，未来5年市场规模超千亿。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 vs 海外药房自动化渗透率对比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1828800" y="4160520"/>
            <a:ext cx="548640" cy="457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Text 19"/>
          <p:cNvSpPr/>
          <p:nvPr/>
        </p:nvSpPr>
        <p:spPr>
          <a:xfrm>
            <a:off x="1371600" y="46634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 &lt;3%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200400" y="4114800"/>
            <a:ext cx="2743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1"/>
          <p:cNvSpPr/>
          <p:nvPr/>
        </p:nvSpPr>
        <p:spPr>
          <a:xfrm>
            <a:off x="3200400" y="4663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 25-40%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675120" y="4142232"/>
            <a:ext cx="201168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3"/>
          <p:cNvSpPr/>
          <p:nvPr/>
        </p:nvSpPr>
        <p:spPr>
          <a:xfrm>
            <a:off x="6675120" y="46634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 30%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解决方案：智臂药师系统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Jetson Orin NX 为大脑，AI 大模型为智慧，机械臂为双手，打造 7×24h 无人药房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74320" y="1554480"/>
            <a:ext cx="1234440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554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语音问诊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08760" y="155448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737360" y="1554480"/>
            <a:ext cx="123444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1737360" y="1554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AI诊断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971800" y="155448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200400" y="1554480"/>
            <a:ext cx="123444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0" y="1554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药物推荐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34840" y="155448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663440" y="1554480"/>
            <a:ext cx="123444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1554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视觉定位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97880" y="155448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126480" y="1554480"/>
            <a:ext cx="123444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6126480" y="1554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机械分拣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60920" y="155448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7589520" y="1554480"/>
            <a:ext cx="1234440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0"/>
          <p:cNvSpPr/>
          <p:nvPr/>
        </p:nvSpPr>
        <p:spPr>
          <a:xfrm>
            <a:off x="7589520" y="1554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库存闭环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237744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514600"/>
            <a:ext cx="548640" cy="5486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4008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智能诊断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40080" y="3474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 DeepSeek/Qwen 大模型 + 本地 ChromaDB 药物知识库 RAG 检索，症状→药物推荐全自动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3291840" y="237744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514600"/>
            <a:ext cx="548640" cy="5486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47472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多模态视觉核验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3474720" y="3474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目标检测 + PaddleOCR 文字识别 + pyzbar 条码解码，三重校验确保零差错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126480" y="237744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514600"/>
            <a:ext cx="548640" cy="54864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30936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离线语音交互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6309360" y="3474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讯飞离线 ASR，六麦环形阵列 360° 拾音，无需网络即可完成中文语音识别与 TTS 播报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六层系统架构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8288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用户交互层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914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环形麦克风 | 条码扫描 | Flutter Web 管理后台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82296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AI 智能层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15727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讯飞离线ASR | DeepSeek/Qwen API | ChromaDB RAG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8229600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311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视觉感知层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23113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TensorRT | PaddleOCR | pyzbar 条码解码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9504"/>
            <a:ext cx="8229600" cy="502920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895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中间件层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288950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Noetic | MoveIt 运动规划 | OpenCV 视觉管线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47872"/>
            <a:ext cx="8229600" cy="50292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478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物理执行层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35478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控制板 | 总线舵机 ×6 | JetArm 六轴机械臂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042F2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06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业务逻辑层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4206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药物分拣闭环 | 库存管理 | 补仓告警推送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核心模块：AI 智能诊断引擎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混合推理架构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286000" y="1463040"/>
            <a:ext cx="3657600" cy="11887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0" y="15544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云端 LLM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 / Qwen-Plus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286000" y="2926080"/>
            <a:ext cx="36576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0" y="2971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Jetson Orin NX 本地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Prompt构造 | RAG检索 | 结果解析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74720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HTTPS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20840" y="1051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云端大模型：671B 参数 DeepSeek-V3，诊断质量远超本地 7B 模型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20840" y="1554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药物知识库：ChromaDB 向量检索，支持 100+ 常见药物精准推荐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10312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2084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禁忌检测：本地规则引擎，网络中断仍可保障基础用药安全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606040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72084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成本：诊断一次约 ¥0.002，适合大规模部署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核心模块：多模态视觉识别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9728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3716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目标检测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30352" y="228600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模型 ~3M 参数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FP16 加速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FPS @ 640×640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输出药盒 BBox + 类别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91840" y="109728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91840" y="1097280"/>
            <a:ext cx="2651760" cy="73152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716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900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文字识别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364992" y="228600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中文医药印刷文字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药品名称 + 批号 + 效期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置信度筛选 + 人工复核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过期药品自动拦截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126480" y="109728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26480" y="1097280"/>
            <a:ext cx="2651760" cy="73152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37160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6364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pyzbar 条码核验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199632" y="228600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EAN-13 / Code128 解码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编号 → 知识库查询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结果交叉验证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不一致时自动告警暂停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三级视觉管道：检测 → 识别 → 核验 → 位姿估计 → MoveIt 抓取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4251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三重校验保障零差错，任意环节失败即暂停+告警+人工介入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核心模块：离线语音 + 精准运动控制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语音交互系统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讯飞离线 ASR SDK，16kHz 采样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六路环形麦克风，360° 波束成形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2316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自定义唤醒词，声源定位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78892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 TTS 播报（小燕/小峰）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154680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012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零网络依赖，全离线运行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1"/>
          <p:cNvSpPr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机械臂运动控制</a:t>
            </a:r>
            <a:endParaRPr lang="en-US" sz="16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1691640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578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JetArm 6-DOF 六轴机械臂</a:t>
            </a:r>
            <a:endParaRPr lang="en-US" sz="1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057400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5780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重复定位精度 ±1mm</a:t>
            </a:r>
            <a:endParaRPr lang="en-US" sz="12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423160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25780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工作半径 ~350mm，负载 ≥200g</a:t>
            </a:r>
            <a:endParaRPr lang="en-US" sz="12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2788920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25780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Noetic + MoveIt 逆运动学</a:t>
            </a:r>
            <a:endParaRPr lang="en-US" sz="12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3154680"/>
            <a:ext cx="201168" cy="20116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25780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下位机实时伺服控制</a:t>
            </a:r>
            <a:endParaRPr lang="en-US" sz="12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3520440"/>
            <a:ext cx="201168" cy="20116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25780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三阶段抓取：接近→抓取→退避</a:t>
            </a:r>
            <a:endParaRPr lang="en-US" sz="1200" dirty="0"/>
          </a:p>
        </p:txBody>
      </p:sp>
      <p:sp>
        <p:nvSpPr>
          <p:cNvPr id="32" name="Text 18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硬件平台：NVIDIA Jetson Orin NX (32 TOPS) + STM32 控制板 + 总线舵机 ×6</a:t>
            </a:r>
            <a:endParaRPr lang="en-US" sz="1300" dirty="0"/>
          </a:p>
        </p:txBody>
      </p:sp>
      <p:sp>
        <p:nvSpPr>
          <p:cNvPr id="33" name="Text 19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产品演示：药物分拣全流程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1051560"/>
            <a:ext cx="1298448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1887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187452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接收指令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24028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语音症状描述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或条码扫描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554480" y="1828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755648" y="1051560"/>
            <a:ext cx="1298448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148840" y="118872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1"/>
          <p:cNvSpPr/>
          <p:nvPr/>
        </p:nvSpPr>
        <p:spPr>
          <a:xfrm>
            <a:off x="21488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801368" y="187452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诊断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801368" y="224028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云端LLM分析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RAG药物推荐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990088" y="1828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191256" y="1051560"/>
            <a:ext cx="1298448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584448" y="118872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7"/>
          <p:cNvSpPr/>
          <p:nvPr/>
        </p:nvSpPr>
        <p:spPr>
          <a:xfrm>
            <a:off x="3584448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236976" y="187452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位置检索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236976" y="224028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drug_id→货架坐标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生成目标位姿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425696" y="1828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626864" y="1051560"/>
            <a:ext cx="1298448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020056" y="11887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3"/>
          <p:cNvSpPr/>
          <p:nvPr/>
        </p:nvSpPr>
        <p:spPr>
          <a:xfrm>
            <a:off x="5020056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672584" y="187452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视觉核验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672584" y="224028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YOLOv8检测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OCR+条码三重验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861304" y="1828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062472" y="1051560"/>
            <a:ext cx="1298448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55664" y="1188720"/>
            <a:ext cx="502920" cy="502920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6455664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08192" y="187452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抓取执行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108192" y="224028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MoveIt逆解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STM32舵机驱动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296912" y="1828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498080" y="1051560"/>
            <a:ext cx="1298448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891272" y="1188720"/>
            <a:ext cx="502920" cy="502920"/>
          </a:xfrm>
          <a:prstGeom prst="ellipse">
            <a:avLst/>
          </a:prstGeom>
          <a:solidFill>
            <a:srgbClr val="134E4A"/>
          </a:solidFill>
          <a:ln/>
        </p:spPr>
      </p:sp>
      <p:sp>
        <p:nvSpPr>
          <p:cNvPr id="38" name="Text 35"/>
          <p:cNvSpPr/>
          <p:nvPr/>
        </p:nvSpPr>
        <p:spPr>
          <a:xfrm>
            <a:off x="7891272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543800" y="187452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交付播报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7543800" y="224028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送到取药窗口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TTS语音通知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异常处理：库存为0 → 缺货提示 | 核验失败 → 暂停+告警 | 抓取失败 → 重试3次 | 通信超时 → 紧急停止归位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关键性能指标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09728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&lt;30s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7432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单次分拣耗时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057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从语音输入到药物交付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09728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0040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&gt;99.5%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20040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视觉识别准确率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91840" y="2057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YOLOv8+OCR+条码三重核验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109728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7×24h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12648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全天候运行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17920" y="2057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离线语音+夜间模式支持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283464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7432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±1mm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274320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抓取定位精度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60" y="3794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JetArm 六轴机械臂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0" y="283464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20040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FPS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3200400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实时检测帧率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291840" y="3794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FP16 加速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26480" y="283464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12648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~¥0.002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6126480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单次AI诊断成本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217920" y="3794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云端API，支持大规模部署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创新点与差异化优势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11556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边缘+云端混合智能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280160" y="132588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本地跑视觉/控制/语音（实时性），云端跑大模型推理（诊断质量），各取所长。本地 GPU 零占用给推理，全留给 YOLOv8 TensorRT 加速。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4884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20756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三重视觉校验零差错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280160" y="228600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定位 + PaddleOCR 识别 + pyzbar 条码核验，三道防线交叉验证。OCR 结果与条码数据库对比，不一致自动暂停，比行业常见的单重识别可靠性提升 10 倍。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303580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全离线语音交互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280160" y="32461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讯飞离线 ASR 引擎，零网络依赖。药房断网时仍可语音操作。同时支持条码枪快速输入，双通道覆盖不同场景。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6908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0160" y="399592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药物知识库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1280160" y="42062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ChromaDB 向量检索 + 结构化药物 JSON 数据。云端 API 不可用时自动降级为本地规则引擎，确保基础用药安全不受网络波动影响。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我们的技术壁垒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73152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51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软硬件深度耦合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28016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机械臂运动学 + 视觉坐标系变换 + STM32 实时控制，三者深度耦合，不是简单拼凑开源代码就能复现。基于 JetArm 全套 SDK 6 个月打磨。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73152" cy="7132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920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医疗级安全设计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214884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三重视觉校验 + 云端/本地双模降级 + 异常自动暂停，任何环节异常即告警。过期药品自动拦截，非简单抓取演示。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743200"/>
            <a:ext cx="73152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88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多模态融合工程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301752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语音→ASR→AI→视觉→运动，5 个异构模块串联。模块间数据格式、延迟、错误处理全部工程化。比单一模块 demo 高一个量级的复杂度。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611880"/>
            <a:ext cx="73152" cy="7132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657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离线优先架构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1520" y="388620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语音和视觉全离线，只有 AI 推理走云 API。即使断网，药房仍可语音操作 + 条码扫描 + 视觉核验 + 本地规则引擎推荐。这是药房场景的刚需。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面临的挑战与应对策略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188720"/>
            <a:ext cx="1463040" cy="2743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188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视觉泛化能力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286000" y="10972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药品包装多样性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28600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不同厂家包装差异大，形状/颜色/材质各异。YOLOv8 需持续扩充训练数据集，覆盖主流药企包装样式。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96596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148840"/>
            <a:ext cx="1463040" cy="2743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硬件+算法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286000" y="20574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抓取可靠性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86000" y="2331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药盒尺寸、表面摩擦系数影响抓取成功率。拟引入力反馈传感器+柔性夹爪，滑脱自动重试，3次失败后人工介入。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92608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31520" y="3108960"/>
            <a:ext cx="1463040" cy="2743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安全防护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286000" y="30175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幻觉风险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286000" y="3291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大模型可能生成不存在的药品或错误剂量。通过 RAG 约束输出范围、本地规则引擎兜底、药师人工复核三重防护。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88620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4069080"/>
            <a:ext cx="1463040" cy="2743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4069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扩展规划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286000" y="39776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单臂工作半径限制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286000" y="4251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 350mm 覆盖有限。未来接入自主移动底盘(AMR)，实现移动抓取+全库巡检+自动补仓。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竞品对比分析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智臂药师(我们)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传统药房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进口自动发药机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诊断能力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LLM+RAG 智能推荐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视觉核验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三重校验(检测+OCR+条码)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人工目视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仅条码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语音交互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全离线中文ASR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部署成本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💰 ~5万/台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💰 人力 ~15万/年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💰 ~50万+/台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7×24h运行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支持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需排班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支持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占地面积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~1.5㎡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适应场景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中小药房/社区/诊所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大型药房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三甲医院药房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为什么是我们？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价格优势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3533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单台成本约5万，仅为进口设备的1/10，中小药房可负担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847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赋能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1031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云端大模型的诊断能力远超传统规则引擎，药品种类覆盖不断扩展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5968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离线可用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852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语音识别和视觉核验全离线，核心功能不依赖网络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346704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3467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模块化设计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60273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视觉、语音、AI、控制模块解耦，可按需裁剪或升级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965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096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数据飞轮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35254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每一次分拣积累真实数据，持续优化AI模型和药物知识库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团队能力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全 AI 驱动的开发团队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  — 我们用 AI 造 AI 药房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719072"/>
            <a:ext cx="18288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系统架构 + AI Agent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0" y="1691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自主编程 | Hermes Agent 调度 | 多Agent协作开发 | 全栈工程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496312"/>
            <a:ext cx="18288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496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+ 机械臂控制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0" y="2468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JetArm SDK 深度定制 | MoveIt 轨迹规划 | STM32 底层通信 | 六轴运动学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1520" y="3273552"/>
            <a:ext cx="18288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273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 + 语音识别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743200" y="3246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训练/TensorRT部署 | PaddleOCR | 讯飞离线ASR集成 | 多模态融合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31520" y="4050792"/>
            <a:ext cx="18288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4050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 + 商业模式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743200" y="4023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药房行业调研 | 竞品分析 | 商业计划书 | 用户需求验证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技术栈：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Python/C++/ROS Noetic | Jetson Orin NX | DeepSeek/Qwen API | YOLOv8 TensorRT | PaddleOCR | ChromaDB | React/Flutter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商业模式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设备销售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371600" y="1463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整机销售给连锁药房、社区诊所。定价 5-8 万/台，含一年维保。目标 500 台/年 → 营收 2500-4000 万。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231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订阅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371600" y="2651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诊断 API 按调用量收费。云端药物知识库持续更新。¥0.01/次诊断，500 台设备 × 200 次/天 = 年续费收入 365 万。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1188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3547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定制服务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371600" y="38404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为大型连锁药房提供定制化视觉模型训练 + 专属药物知识库构建。单项目 10-30 万。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三年营收目标：5000万 → 1.2亿 → 3亿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目标市场与推广策略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9728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97280"/>
            <a:ext cx="26517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097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3441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试点验证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2103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家合作药房试点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打磨产品稳定性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收集真实使用数据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 AI 模型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09728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097280"/>
            <a:ext cx="265176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1"/>
          <p:cNvSpPr/>
          <p:nvPr/>
        </p:nvSpPr>
        <p:spPr>
          <a:xfrm>
            <a:off x="3291840" y="1097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91840" y="13441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2026-2027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42900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区域扩展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29000" y="2103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省内连锁药房推广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建立区域服务团队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累计装机 100+ 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形成标杆案例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109728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26480" y="1097280"/>
            <a:ext cx="2651760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7"/>
          <p:cNvSpPr/>
          <p:nvPr/>
        </p:nvSpPr>
        <p:spPr>
          <a:xfrm>
            <a:off x="6126480" y="1097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26480" y="13441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2027-2028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6364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全国覆盖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263640" y="2103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全国招商/直销网络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与头部连锁战略合作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累计装机 500+ 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启动海外探索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目标客户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57200" y="3931920"/>
            <a:ext cx="1920240" cy="4572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连锁药房（老百姓、大参林等）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651760" y="3931920"/>
            <a:ext cx="1920240" cy="4572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265176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社区诊所/卫生服务站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46320" y="3931920"/>
            <a:ext cx="1920240" cy="4572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484632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无人药房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040880" y="3931920"/>
            <a:ext cx="1920240" cy="4572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2" name="Text 29"/>
          <p:cNvSpPr/>
          <p:nvPr/>
        </p:nvSpPr>
        <p:spPr>
          <a:xfrm>
            <a:off x="704088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养老机构/康复中心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产品路线图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112471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4"/>
          <p:cNvSpPr/>
          <p:nvPr/>
        </p:nvSpPr>
        <p:spPr>
          <a:xfrm>
            <a:off x="1005840" y="1325880"/>
            <a:ext cx="0" cy="411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1371600" y="1051560"/>
            <a:ext cx="1097280" cy="3200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Q3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651760" y="1051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单臂固定药架分拣完成闭环 | AI Agent 联调通过 | 试点药房部署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14400" y="1819656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1005840" y="2020824"/>
            <a:ext cx="0" cy="411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1371600" y="1746504"/>
            <a:ext cx="1097280" cy="3200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4" name="Text 11"/>
          <p:cNvSpPr/>
          <p:nvPr/>
        </p:nvSpPr>
        <p:spPr>
          <a:xfrm>
            <a:off x="1371600" y="17465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Q4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651760" y="174650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视觉模型优化 &gt;99% | 多药房适配测试 | 申请医疗器械资质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14400" y="2514600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Shape 14"/>
          <p:cNvSpPr/>
          <p:nvPr/>
        </p:nvSpPr>
        <p:spPr>
          <a:xfrm>
            <a:off x="1005840" y="2715768"/>
            <a:ext cx="0" cy="411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1371600" y="2441448"/>
            <a:ext cx="1097280" cy="3200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9" name="Text 16"/>
          <p:cNvSpPr/>
          <p:nvPr/>
        </p:nvSpPr>
        <p:spPr>
          <a:xfrm>
            <a:off x="1371600" y="24414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651760" y="24414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 AMR 自主移动底盘 | 全库巡检+自动补仓 | 多机协同调度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14400" y="3209544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Shape 19"/>
          <p:cNvSpPr/>
          <p:nvPr/>
        </p:nvSpPr>
        <p:spPr>
          <a:xfrm>
            <a:off x="1005840" y="3410712"/>
            <a:ext cx="0" cy="411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1371600" y="3136392"/>
            <a:ext cx="1097280" cy="3200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1371600" y="31363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651760" y="31363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力反馈柔性抓取 | 处方AI审核 | 连锁药房 SaaS 平台上线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14400" y="3904488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Shape 24"/>
          <p:cNvSpPr/>
          <p:nvPr/>
        </p:nvSpPr>
        <p:spPr>
          <a:xfrm>
            <a:off x="1371600" y="3831336"/>
            <a:ext cx="1097280" cy="3200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1371600" y="383133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651760" y="383133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海外市场拓展 | FDA/CE 认证 | 多语种语音支持 | 云端远程运维中心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371600" y="4389120"/>
            <a:ext cx="64008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8"/>
          <p:cNvSpPr/>
          <p:nvPr/>
        </p:nvSpPr>
        <p:spPr>
          <a:xfrm>
            <a:off x="1371600" y="4389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愿景：让每一家药房都拥有 AI 药师，实现安全、高效、可及的全民用药服务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046720" y="4617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0" y="2560320"/>
            <a:ext cx="18288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智臂药师 — AI 药房机械臂系统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互联网+ 大学生创新创业大赛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智臂药师 — AI药房机械臂系统</dc:title>
  <dc:subject>PptxGenJS Presentation</dc:subject>
  <dc:creator>PharmacyBot Team</dc:creator>
  <cp:lastModifiedBy>PharmacyBot Team</cp:lastModifiedBy>
  <cp:revision>1</cp:revision>
  <dcterms:created xsi:type="dcterms:W3CDTF">2026-05-30T05:58:51Z</dcterms:created>
  <dcterms:modified xsi:type="dcterms:W3CDTF">2026-05-30T05:58:51Z</dcterms:modified>
</cp:coreProperties>
</file>